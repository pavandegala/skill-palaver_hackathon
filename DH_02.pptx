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3" r:id="rId2"/>
    <p:sldId id="264" r:id="rId3"/>
    <p:sldId id="256" r:id="rId4"/>
    <p:sldId id="257" r:id="rId5"/>
    <p:sldId id="258" r:id="rId6"/>
    <p:sldId id="262" r:id="rId7"/>
    <p:sldId id="259" r:id="rId8"/>
    <p:sldId id="260" r:id="rId9"/>
    <p:sldId id="261" r:id="rId10"/>
  </p:sldIdLst>
  <p:sldSz cx="14630400" cy="8229600"/>
  <p:notesSz cx="8229600" cy="14630400"/>
  <p:embeddedFontLst>
    <p:embeddedFont>
      <p:font typeface="Crimson Pro Semi Bold" panose="020B0604020202020204" charset="0"/>
      <p:regular r:id="rId12"/>
    </p:embeddedFont>
    <p:embeddedFont>
      <p:font typeface="Heebo" pitchFamily="2" charset="-79"/>
      <p:regular r:id="rId13"/>
      <p:bold r:id="rId14"/>
    </p:embeddedFont>
    <p:embeddedFont>
      <p:font typeface="League Spartan" panose="020B0604020202020204" charset="0"/>
      <p:regular r:id="rId15"/>
    </p:embeddedFont>
    <p:embeddedFont>
      <p:font typeface="Lovelace Text Bold" panose="020B0604020202020204" charset="0"/>
      <p:regular r:id="rId16"/>
    </p:embeddedFont>
    <p:embeddedFont>
      <p:font typeface="Poppins" panose="00000500000000000000" pitchFamily="2" charset="0"/>
      <p:regular r:id="rId17"/>
    </p:embeddedFont>
    <p:embeddedFont>
      <p:font typeface="Roboto Bold" panose="02000000000000000000" pitchFamily="2" charset="0"/>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600465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4693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18" Type="http://schemas.openxmlformats.org/officeDocument/2006/relationships/image" Target="../media/image26.png"/><Relationship Id="rId3" Type="http://schemas.openxmlformats.org/officeDocument/2006/relationships/image" Target="../media/image11.svg"/><Relationship Id="rId21" Type="http://schemas.openxmlformats.org/officeDocument/2006/relationships/image" Target="../media/image29.svg"/><Relationship Id="rId7" Type="http://schemas.openxmlformats.org/officeDocument/2006/relationships/image" Target="../media/image15.svg"/><Relationship Id="rId12" Type="http://schemas.openxmlformats.org/officeDocument/2006/relationships/image" Target="../media/image20.png"/><Relationship Id="rId17" Type="http://schemas.openxmlformats.org/officeDocument/2006/relationships/image" Target="../media/image25.sv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8.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23" Type="http://schemas.openxmlformats.org/officeDocument/2006/relationships/image" Target="../media/image31.svg"/><Relationship Id="rId10" Type="http://schemas.openxmlformats.org/officeDocument/2006/relationships/image" Target="../media/image18.png"/><Relationship Id="rId19" Type="http://schemas.openxmlformats.org/officeDocument/2006/relationships/image" Target="../media/image27.sv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 Id="rId22"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630400" cy="82296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414511" y="3797487"/>
            <a:ext cx="13801378" cy="1176797"/>
          </a:xfrm>
          <a:prstGeom prst="rect">
            <a:avLst/>
          </a:prstGeom>
        </p:spPr>
        <p:txBody>
          <a:bodyPr lIns="0" tIns="0" rIns="0" bIns="0" rtlCol="0" anchor="t">
            <a:spAutoFit/>
          </a:bodyPr>
          <a:lstStyle/>
          <a:p>
            <a:pPr algn="ctr">
              <a:lnSpc>
                <a:spcPts val="4774"/>
              </a:lnSpc>
            </a:pPr>
            <a:r>
              <a:rPr lang="en-US" sz="3410" b="1">
                <a:solidFill>
                  <a:srgbClr val="004AAD"/>
                </a:solidFill>
                <a:latin typeface="League Spartan"/>
                <a:ea typeface="League Spartan"/>
                <a:cs typeface="League Spartan"/>
                <a:sym typeface="League Spartan"/>
              </a:rPr>
              <a:t>AIR QUALITY PREDICTION USING DEEP LEARNING</a:t>
            </a:r>
          </a:p>
          <a:p>
            <a:pPr algn="ctr">
              <a:lnSpc>
                <a:spcPts val="4774"/>
              </a:lnSpc>
            </a:pPr>
            <a:endParaRPr lang="en-US" sz="3410" b="1">
              <a:solidFill>
                <a:srgbClr val="004AAD"/>
              </a:solidFill>
              <a:latin typeface="League Spartan"/>
              <a:ea typeface="League Spartan"/>
              <a:cs typeface="League Spartan"/>
              <a:sym typeface="League Spartan"/>
            </a:endParaRPr>
          </a:p>
        </p:txBody>
      </p:sp>
      <p:grpSp>
        <p:nvGrpSpPr>
          <p:cNvPr id="4" name="Group 4"/>
          <p:cNvGrpSpPr/>
          <p:nvPr/>
        </p:nvGrpSpPr>
        <p:grpSpPr>
          <a:xfrm>
            <a:off x="-904240" y="3246201"/>
            <a:ext cx="2468880" cy="17371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6" name="TextBox 6"/>
            <p:cNvSpPr txBox="1"/>
            <p:nvPr/>
          </p:nvSpPr>
          <p:spPr>
            <a:xfrm>
              <a:off x="0" y="-47625"/>
              <a:ext cx="812800" cy="619542"/>
            </a:xfrm>
            <a:prstGeom prst="rect">
              <a:avLst/>
            </a:prstGeom>
          </p:spPr>
          <p:txBody>
            <a:bodyPr lIns="40640" tIns="40640" rIns="40640" bIns="40640" rtlCol="0" anchor="ctr"/>
            <a:lstStyle/>
            <a:p>
              <a:pPr algn="ctr">
                <a:lnSpc>
                  <a:spcPts val="2127"/>
                </a:lnSpc>
              </a:pPr>
              <a:endParaRPr sz="1440"/>
            </a:p>
          </p:txBody>
        </p:sp>
      </p:grpSp>
      <p:sp>
        <p:nvSpPr>
          <p:cNvPr id="7" name="TextBox 7"/>
          <p:cNvSpPr txBox="1"/>
          <p:nvPr/>
        </p:nvSpPr>
        <p:spPr>
          <a:xfrm>
            <a:off x="5058403" y="2823079"/>
            <a:ext cx="4513594" cy="691279"/>
          </a:xfrm>
          <a:prstGeom prst="rect">
            <a:avLst/>
          </a:prstGeom>
        </p:spPr>
        <p:txBody>
          <a:bodyPr lIns="0" tIns="0" rIns="0" bIns="0" rtlCol="0" anchor="t">
            <a:spAutoFit/>
          </a:bodyPr>
          <a:lstStyle/>
          <a:p>
            <a:pPr algn="ctr">
              <a:lnSpc>
                <a:spcPts val="5939"/>
              </a:lnSpc>
            </a:pPr>
            <a:r>
              <a:rPr lang="en-US" sz="4242" b="1">
                <a:solidFill>
                  <a:srgbClr val="303642"/>
                </a:solidFill>
                <a:latin typeface="Roboto Bold"/>
                <a:ea typeface="Roboto Bold"/>
                <a:cs typeface="Roboto Bold"/>
                <a:sym typeface="Roboto Bold"/>
              </a:rPr>
              <a:t>DH-02</a:t>
            </a:r>
          </a:p>
        </p:txBody>
      </p:sp>
      <p:sp>
        <p:nvSpPr>
          <p:cNvPr id="8" name="TextBox 8"/>
          <p:cNvSpPr txBox="1"/>
          <p:nvPr/>
        </p:nvSpPr>
        <p:spPr>
          <a:xfrm>
            <a:off x="2680498" y="4930060"/>
            <a:ext cx="9269405" cy="1265988"/>
          </a:xfrm>
          <a:prstGeom prst="rect">
            <a:avLst/>
          </a:prstGeom>
        </p:spPr>
        <p:txBody>
          <a:bodyPr lIns="0" tIns="0" rIns="0" bIns="0" rtlCol="0" anchor="t">
            <a:spAutoFit/>
          </a:bodyPr>
          <a:lstStyle/>
          <a:p>
            <a:pPr algn="ctr">
              <a:lnSpc>
                <a:spcPts val="2486"/>
              </a:lnSpc>
              <a:spcBef>
                <a:spcPct val="0"/>
              </a:spcBef>
            </a:pPr>
            <a:r>
              <a:rPr lang="en-US" sz="1775">
                <a:solidFill>
                  <a:srgbClr val="303642"/>
                </a:solidFill>
                <a:latin typeface="Poppins"/>
                <a:ea typeface="Poppins"/>
                <a:cs typeface="Poppins"/>
                <a:sym typeface="Poppins"/>
              </a:rPr>
              <a:t>Data analysis on India Air Quality data and predict tha value of Air Quality Index based on given features of concentration of sulphur dioxide,nitrogen dioxide, respirable suspended particualte matter, suspended particulate matter and classify the Air Quality as good, moderate, poor, unhealthy, healthy.</a:t>
            </a:r>
          </a:p>
        </p:txBody>
      </p:sp>
      <p:grpSp>
        <p:nvGrpSpPr>
          <p:cNvPr id="9" name="Group 9"/>
          <p:cNvGrpSpPr/>
          <p:nvPr/>
        </p:nvGrpSpPr>
        <p:grpSpPr>
          <a:xfrm>
            <a:off x="13173874" y="3246201"/>
            <a:ext cx="2468880" cy="1737199"/>
            <a:chOff x="0" y="0"/>
            <a:chExt cx="812800" cy="571917"/>
          </a:xfrm>
        </p:grpSpPr>
        <p:sp>
          <p:nvSpPr>
            <p:cNvPr id="10" name="Freeform 10"/>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11" name="TextBox 11"/>
            <p:cNvSpPr txBox="1"/>
            <p:nvPr/>
          </p:nvSpPr>
          <p:spPr>
            <a:xfrm>
              <a:off x="0" y="-47625"/>
              <a:ext cx="812800" cy="619542"/>
            </a:xfrm>
            <a:prstGeom prst="rect">
              <a:avLst/>
            </a:prstGeom>
          </p:spPr>
          <p:txBody>
            <a:bodyPr lIns="40640" tIns="40640" rIns="40640" bIns="40640" rtlCol="0" anchor="ctr"/>
            <a:lstStyle/>
            <a:p>
              <a:pPr algn="ctr">
                <a:lnSpc>
                  <a:spcPts val="2127"/>
                </a:lnSpc>
              </a:pPr>
              <a:endParaRPr sz="1440"/>
            </a:p>
          </p:txBody>
        </p:sp>
      </p:grpSp>
    </p:spTree>
    <p:extLst>
      <p:ext uri="{BB962C8B-B14F-4D97-AF65-F5344CB8AC3E}">
        <p14:creationId xmlns:p14="http://schemas.microsoft.com/office/powerpoint/2010/main" val="523709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630400" cy="82296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617676" y="739140"/>
            <a:ext cx="5405109" cy="748090"/>
          </a:xfrm>
          <a:prstGeom prst="rect">
            <a:avLst/>
          </a:prstGeom>
        </p:spPr>
        <p:txBody>
          <a:bodyPr lIns="0" tIns="0" rIns="0" bIns="0" rtlCol="0" anchor="t">
            <a:spAutoFit/>
          </a:bodyPr>
          <a:lstStyle/>
          <a:p>
            <a:pPr algn="ctr">
              <a:lnSpc>
                <a:spcPts val="6352"/>
              </a:lnSpc>
            </a:pPr>
            <a:r>
              <a:rPr lang="en-US" sz="4538" b="1" u="sng">
                <a:solidFill>
                  <a:srgbClr val="004AAD"/>
                </a:solidFill>
                <a:latin typeface="League Spartan"/>
                <a:ea typeface="League Spartan"/>
                <a:cs typeface="League Spartan"/>
                <a:sym typeface="League Spartan"/>
              </a:rPr>
              <a:t>TEAM MEMBERS</a:t>
            </a:r>
          </a:p>
        </p:txBody>
      </p:sp>
      <p:sp>
        <p:nvSpPr>
          <p:cNvPr id="4" name="TextBox 4"/>
          <p:cNvSpPr txBox="1"/>
          <p:nvPr/>
        </p:nvSpPr>
        <p:spPr>
          <a:xfrm>
            <a:off x="3416773" y="1968048"/>
            <a:ext cx="5905786" cy="480131"/>
          </a:xfrm>
          <a:prstGeom prst="rect">
            <a:avLst/>
          </a:prstGeom>
        </p:spPr>
        <p:txBody>
          <a:bodyPr lIns="0" tIns="0" rIns="0" bIns="0" rtlCol="0" anchor="t">
            <a:spAutoFit/>
          </a:bodyPr>
          <a:lstStyle/>
          <a:p>
            <a:pPr algn="ctr">
              <a:lnSpc>
                <a:spcPts val="4112"/>
              </a:lnSpc>
              <a:spcBef>
                <a:spcPct val="0"/>
              </a:spcBef>
            </a:pPr>
            <a:r>
              <a:rPr lang="en-US" sz="2938" b="1">
                <a:solidFill>
                  <a:srgbClr val="38B6FF"/>
                </a:solidFill>
                <a:latin typeface="League Spartan"/>
                <a:ea typeface="League Spartan"/>
                <a:cs typeface="League Spartan"/>
                <a:sym typeface="League Spartan"/>
              </a:rPr>
              <a:t>2300033518 - DEGALA PAVAN</a:t>
            </a:r>
          </a:p>
        </p:txBody>
      </p:sp>
      <p:sp>
        <p:nvSpPr>
          <p:cNvPr id="5" name="TextBox 5"/>
          <p:cNvSpPr txBox="1"/>
          <p:nvPr/>
        </p:nvSpPr>
        <p:spPr>
          <a:xfrm>
            <a:off x="1943664" y="2632775"/>
            <a:ext cx="7314220" cy="480131"/>
          </a:xfrm>
          <a:prstGeom prst="rect">
            <a:avLst/>
          </a:prstGeom>
        </p:spPr>
        <p:txBody>
          <a:bodyPr wrap="square" lIns="0" tIns="0" rIns="0" bIns="0" rtlCol="0" anchor="t">
            <a:spAutoFit/>
          </a:bodyPr>
          <a:lstStyle/>
          <a:p>
            <a:pPr algn="ctr">
              <a:lnSpc>
                <a:spcPts val="4112"/>
              </a:lnSpc>
              <a:spcBef>
                <a:spcPct val="0"/>
              </a:spcBef>
            </a:pPr>
            <a:r>
              <a:rPr lang="en-US" sz="2938" b="1" dirty="0">
                <a:solidFill>
                  <a:srgbClr val="38B6FF"/>
                </a:solidFill>
                <a:latin typeface="League Spartan"/>
                <a:ea typeface="League Spartan"/>
                <a:cs typeface="League Spartan"/>
                <a:sym typeface="League Spartan"/>
              </a:rPr>
              <a:t>2300031618 - LAHARI               </a:t>
            </a:r>
          </a:p>
        </p:txBody>
      </p:sp>
      <p:sp>
        <p:nvSpPr>
          <p:cNvPr id="6" name="TextBox 6"/>
          <p:cNvSpPr txBox="1"/>
          <p:nvPr/>
        </p:nvSpPr>
        <p:spPr>
          <a:xfrm>
            <a:off x="3331952" y="3297298"/>
            <a:ext cx="5946077" cy="480131"/>
          </a:xfrm>
          <a:prstGeom prst="rect">
            <a:avLst/>
          </a:prstGeom>
        </p:spPr>
        <p:txBody>
          <a:bodyPr lIns="0" tIns="0" rIns="0" bIns="0" rtlCol="0" anchor="t">
            <a:spAutoFit/>
          </a:bodyPr>
          <a:lstStyle/>
          <a:p>
            <a:pPr algn="ctr">
              <a:lnSpc>
                <a:spcPts val="4112"/>
              </a:lnSpc>
              <a:spcBef>
                <a:spcPct val="0"/>
              </a:spcBef>
            </a:pPr>
            <a:r>
              <a:rPr lang="en-US" sz="2938" b="1">
                <a:solidFill>
                  <a:srgbClr val="38B6FF"/>
                </a:solidFill>
                <a:latin typeface="League Spartan"/>
                <a:ea typeface="League Spartan"/>
                <a:cs typeface="League Spartan"/>
                <a:sym typeface="League Spartan"/>
              </a:rPr>
              <a:t>2300032876 - L.TEJESWARAO</a:t>
            </a:r>
          </a:p>
        </p:txBody>
      </p:sp>
      <p:sp>
        <p:nvSpPr>
          <p:cNvPr id="7" name="TextBox 7"/>
          <p:cNvSpPr txBox="1"/>
          <p:nvPr/>
        </p:nvSpPr>
        <p:spPr>
          <a:xfrm>
            <a:off x="2257298" y="3961822"/>
            <a:ext cx="7314221" cy="468205"/>
          </a:xfrm>
          <a:prstGeom prst="rect">
            <a:avLst/>
          </a:prstGeom>
        </p:spPr>
        <p:txBody>
          <a:bodyPr lIns="0" tIns="0" rIns="0" bIns="0" rtlCol="0" anchor="t">
            <a:spAutoFit/>
          </a:bodyPr>
          <a:lstStyle/>
          <a:p>
            <a:pPr algn="ctr">
              <a:lnSpc>
                <a:spcPts val="4000"/>
              </a:lnSpc>
              <a:spcBef>
                <a:spcPct val="0"/>
              </a:spcBef>
            </a:pPr>
            <a:r>
              <a:rPr lang="en-US" sz="2858" b="1">
                <a:solidFill>
                  <a:srgbClr val="38B6FF"/>
                </a:solidFill>
                <a:latin typeface="League Spartan"/>
                <a:ea typeface="League Spartan"/>
                <a:cs typeface="League Spartan"/>
                <a:sym typeface="League Spartan"/>
              </a:rPr>
              <a:t>2300030603 - S. POOJITHA</a:t>
            </a:r>
          </a:p>
        </p:txBody>
      </p:sp>
    </p:spTree>
    <p:extLst>
      <p:ext uri="{BB962C8B-B14F-4D97-AF65-F5344CB8AC3E}">
        <p14:creationId xmlns:p14="http://schemas.microsoft.com/office/powerpoint/2010/main" val="2691863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alpha val="3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21813"/>
            <a:ext cx="7556421" cy="1417558"/>
          </a:xfrm>
          <a:prstGeom prst="rect">
            <a:avLst/>
          </a:prstGeom>
          <a:noFill/>
        </p:spPr>
        <p:txBody>
          <a:bodyPr wrap="squar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Air Quality Prediction Using Deep Learning</a:t>
            </a:r>
            <a:endParaRPr lang="en-US" sz="4450" dirty="0"/>
          </a:p>
        </p:txBody>
      </p:sp>
      <p:sp>
        <p:nvSpPr>
          <p:cNvPr id="4" name="Text 1"/>
          <p:cNvSpPr/>
          <p:nvPr/>
        </p:nvSpPr>
        <p:spPr>
          <a:xfrm>
            <a:off x="6280190" y="3879533"/>
            <a:ext cx="7556421" cy="725805"/>
          </a:xfrm>
          <a:prstGeom prst="rect">
            <a:avLst/>
          </a:prstGeom>
          <a:noFill/>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Air pollution is a growing concern in India, directly affecting public health and environmental sustainability. This project focuses on </a:t>
            </a:r>
            <a:endParaRPr lang="en-US" sz="1750" dirty="0"/>
          </a:p>
        </p:txBody>
      </p:sp>
      <p:sp>
        <p:nvSpPr>
          <p:cNvPr id="5" name="Text 2"/>
          <p:cNvSpPr/>
          <p:nvPr/>
        </p:nvSpPr>
        <p:spPr>
          <a:xfrm>
            <a:off x="6280190" y="4860488"/>
            <a:ext cx="7556421" cy="362903"/>
          </a:xfrm>
          <a:prstGeom prst="rect">
            <a:avLst/>
          </a:prstGeom>
          <a:noFill/>
        </p:spPr>
        <p:txBody>
          <a:bodyPr wrap="none" lIns="0" tIns="0" rIns="0" bIns="0" rtlCol="0" anchor="t"/>
          <a:lstStyle/>
          <a:p>
            <a:pPr marL="0" indent="0" algn="l">
              <a:lnSpc>
                <a:spcPts val="2850"/>
              </a:lnSpc>
              <a:buSzPct val="100000"/>
              <a:buNone/>
            </a:pPr>
            <a:r>
              <a:rPr lang="en-US" sz="1750" b="1" dirty="0">
                <a:solidFill>
                  <a:srgbClr val="4C4C4D"/>
                </a:solidFill>
                <a:latin typeface="Heebo" pitchFamily="34" charset="0"/>
                <a:ea typeface="Heebo" pitchFamily="34" charset="-122"/>
                <a:cs typeface="Heebo" pitchFamily="34" charset="-120"/>
              </a:rPr>
              <a:t>Analyze</a:t>
            </a:r>
            <a:r>
              <a:rPr lang="en-US" sz="1750" dirty="0">
                <a:solidFill>
                  <a:srgbClr val="4C4C4D"/>
                </a:solidFill>
                <a:latin typeface="Heebo" pitchFamily="34" charset="0"/>
                <a:ea typeface="Heebo" pitchFamily="34" charset="-122"/>
                <a:cs typeface="Heebo" pitchFamily="34" charset="-120"/>
              </a:rPr>
              <a:t> existing air quality information</a:t>
            </a:r>
            <a:endParaRPr lang="en-US" sz="1750" dirty="0"/>
          </a:p>
        </p:txBody>
      </p:sp>
      <p:sp>
        <p:nvSpPr>
          <p:cNvPr id="6" name="Text 3"/>
          <p:cNvSpPr/>
          <p:nvPr/>
        </p:nvSpPr>
        <p:spPr>
          <a:xfrm>
            <a:off x="6280190" y="5302687"/>
            <a:ext cx="7556421" cy="362903"/>
          </a:xfrm>
          <a:prstGeom prst="rect">
            <a:avLst/>
          </a:prstGeom>
          <a:noFill/>
        </p:spPr>
        <p:txBody>
          <a:bodyPr wrap="none" lIns="0" tIns="0" rIns="0" bIns="0" rtlCol="0" anchor="t"/>
          <a:lstStyle/>
          <a:p>
            <a:pPr marL="0" indent="0" algn="l">
              <a:lnSpc>
                <a:spcPts val="2850"/>
              </a:lnSpc>
              <a:buSzPct val="100000"/>
              <a:buNone/>
            </a:pPr>
            <a:r>
              <a:rPr lang="en-US" sz="1750" b="1" dirty="0">
                <a:solidFill>
                  <a:srgbClr val="4C4C4D"/>
                </a:solidFill>
                <a:latin typeface="Heebo" pitchFamily="34" charset="0"/>
                <a:ea typeface="Heebo" pitchFamily="34" charset="-122"/>
                <a:cs typeface="Heebo" pitchFamily="34" charset="-120"/>
              </a:rPr>
              <a:t>Predict</a:t>
            </a:r>
            <a:r>
              <a:rPr lang="en-US" sz="1750" dirty="0">
                <a:solidFill>
                  <a:srgbClr val="4C4C4D"/>
                </a:solidFill>
                <a:latin typeface="Heebo" pitchFamily="34" charset="0"/>
                <a:ea typeface="Heebo" pitchFamily="34" charset="-122"/>
                <a:cs typeface="Heebo" pitchFamily="34" charset="-120"/>
              </a:rPr>
              <a:t> future air quality levels</a:t>
            </a:r>
            <a:endParaRPr lang="en-US" sz="1750" dirty="0"/>
          </a:p>
        </p:txBody>
      </p:sp>
      <p:sp>
        <p:nvSpPr>
          <p:cNvPr id="7" name="Text 4"/>
          <p:cNvSpPr/>
          <p:nvPr/>
        </p:nvSpPr>
        <p:spPr>
          <a:xfrm>
            <a:off x="6280190" y="5744885"/>
            <a:ext cx="7556421" cy="362903"/>
          </a:xfrm>
          <a:prstGeom prst="rect">
            <a:avLst/>
          </a:prstGeom>
          <a:noFill/>
        </p:spPr>
        <p:txBody>
          <a:bodyPr wrap="none" lIns="0" tIns="0" rIns="0" bIns="0" rtlCol="0" anchor="t"/>
          <a:lstStyle/>
          <a:p>
            <a:pPr marL="0" indent="0" algn="l">
              <a:lnSpc>
                <a:spcPts val="2850"/>
              </a:lnSpc>
              <a:buSzPct val="100000"/>
              <a:buNone/>
            </a:pPr>
            <a:r>
              <a:rPr lang="en-US" sz="1750" b="1" dirty="0">
                <a:solidFill>
                  <a:srgbClr val="4C4C4D"/>
                </a:solidFill>
                <a:latin typeface="Heebo" pitchFamily="34" charset="0"/>
                <a:ea typeface="Heebo" pitchFamily="34" charset="-122"/>
                <a:cs typeface="Heebo" pitchFamily="34" charset="-120"/>
              </a:rPr>
              <a:t>Classify</a:t>
            </a:r>
            <a:r>
              <a:rPr lang="en-US" sz="1750" dirty="0">
                <a:solidFill>
                  <a:srgbClr val="4C4C4D"/>
                </a:solidFill>
                <a:latin typeface="Heebo" pitchFamily="34" charset="0"/>
                <a:ea typeface="Heebo" pitchFamily="34" charset="-122"/>
                <a:cs typeface="Heebo" pitchFamily="34" charset="-120"/>
              </a:rPr>
              <a:t> air quality into easy-to-understand categories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775216" y="611029"/>
            <a:ext cx="5537359" cy="692110"/>
          </a:xfrm>
          <a:prstGeom prst="rect">
            <a:avLst/>
          </a:prstGeom>
          <a:noFill/>
        </p:spPr>
        <p:txBody>
          <a:bodyPr wrap="none" lIns="0" tIns="0" rIns="0" bIns="0" rtlCol="0" anchor="t"/>
          <a:lstStyle/>
          <a:p>
            <a:pPr marL="0" indent="0" algn="l">
              <a:lnSpc>
                <a:spcPts val="5450"/>
              </a:lnSpc>
              <a:buNone/>
            </a:pPr>
            <a:r>
              <a:rPr lang="en-US" sz="4350" dirty="0">
                <a:solidFill>
                  <a:srgbClr val="152D47"/>
                </a:solidFill>
                <a:latin typeface="Crimson Pro Semi Bold" pitchFamily="34" charset="0"/>
                <a:ea typeface="Crimson Pro Semi Bold" pitchFamily="34" charset="-122"/>
                <a:cs typeface="Crimson Pro Semi Bold" pitchFamily="34" charset="-120"/>
              </a:rPr>
              <a:t>Implementation</a:t>
            </a:r>
            <a:endParaRPr lang="en-US" sz="4350" dirty="0"/>
          </a:p>
        </p:txBody>
      </p:sp>
      <p:sp>
        <p:nvSpPr>
          <p:cNvPr id="3" name="Shape 1"/>
          <p:cNvSpPr/>
          <p:nvPr/>
        </p:nvSpPr>
        <p:spPr>
          <a:xfrm>
            <a:off x="775216" y="1746052"/>
            <a:ext cx="498277" cy="498277"/>
          </a:xfrm>
          <a:prstGeom prst="roundRect">
            <a:avLst>
              <a:gd name="adj" fmla="val 6668"/>
            </a:avLst>
          </a:prstGeom>
          <a:solidFill>
            <a:srgbClr val="F2EEEE"/>
          </a:solidFill>
        </p:spPr>
      </p:sp>
      <p:sp>
        <p:nvSpPr>
          <p:cNvPr id="4" name="Text 2"/>
          <p:cNvSpPr/>
          <p:nvPr/>
        </p:nvSpPr>
        <p:spPr>
          <a:xfrm>
            <a:off x="858203" y="1787485"/>
            <a:ext cx="332184" cy="415290"/>
          </a:xfrm>
          <a:prstGeom prst="rect">
            <a:avLst/>
          </a:prstGeom>
          <a:noFill/>
        </p:spPr>
        <p:txBody>
          <a:bodyPr wrap="none" lIns="0" tIns="0" rIns="0" bIns="0" rtlCol="0" anchor="t"/>
          <a:lstStyle/>
          <a:p>
            <a:pPr marL="0" indent="0" algn="ctr">
              <a:lnSpc>
                <a:spcPts val="2600"/>
              </a:lnSpc>
              <a:buNone/>
            </a:pPr>
            <a:r>
              <a:rPr lang="en-US" sz="2600" dirty="0">
                <a:solidFill>
                  <a:srgbClr val="4C4C4D"/>
                </a:solidFill>
                <a:latin typeface="Crimson Pro Semi Bold" pitchFamily="34" charset="0"/>
                <a:ea typeface="Crimson Pro Semi Bold" pitchFamily="34" charset="-122"/>
                <a:cs typeface="Crimson Pro Semi Bold" pitchFamily="34" charset="-120"/>
              </a:rPr>
              <a:t>1</a:t>
            </a:r>
            <a:endParaRPr lang="en-US" sz="2600" dirty="0"/>
          </a:p>
        </p:txBody>
      </p:sp>
      <p:sp>
        <p:nvSpPr>
          <p:cNvPr id="5" name="Text 3"/>
          <p:cNvSpPr/>
          <p:nvPr/>
        </p:nvSpPr>
        <p:spPr>
          <a:xfrm>
            <a:off x="1494949" y="1822132"/>
            <a:ext cx="2768679" cy="345996"/>
          </a:xfrm>
          <a:prstGeom prst="rect">
            <a:avLst/>
          </a:prstGeom>
          <a:noFill/>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Data Collection</a:t>
            </a:r>
            <a:endParaRPr lang="en-US" sz="2150" dirty="0"/>
          </a:p>
        </p:txBody>
      </p:sp>
      <p:sp>
        <p:nvSpPr>
          <p:cNvPr id="6" name="Text 4"/>
          <p:cNvSpPr/>
          <p:nvPr/>
        </p:nvSpPr>
        <p:spPr>
          <a:xfrm>
            <a:off x="1494949" y="2301002"/>
            <a:ext cx="5681782" cy="708660"/>
          </a:xfrm>
          <a:prstGeom prst="rect">
            <a:avLst/>
          </a:prstGeom>
          <a:noFill/>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Gathered pollutant concentration data (SO₂, NO₂, RSPM, SPM) from air quality monitoring datasets.</a:t>
            </a:r>
            <a:endParaRPr lang="en-US" sz="1700" dirty="0"/>
          </a:p>
        </p:txBody>
      </p:sp>
      <p:sp>
        <p:nvSpPr>
          <p:cNvPr id="7" name="Shape 5"/>
          <p:cNvSpPr/>
          <p:nvPr/>
        </p:nvSpPr>
        <p:spPr>
          <a:xfrm>
            <a:off x="7453551" y="1746052"/>
            <a:ext cx="498277" cy="498277"/>
          </a:xfrm>
          <a:prstGeom prst="roundRect">
            <a:avLst>
              <a:gd name="adj" fmla="val 6668"/>
            </a:avLst>
          </a:prstGeom>
          <a:solidFill>
            <a:srgbClr val="F2EEEE"/>
          </a:solidFill>
        </p:spPr>
      </p:sp>
      <p:sp>
        <p:nvSpPr>
          <p:cNvPr id="8" name="Text 6"/>
          <p:cNvSpPr/>
          <p:nvPr/>
        </p:nvSpPr>
        <p:spPr>
          <a:xfrm>
            <a:off x="7536537" y="1787485"/>
            <a:ext cx="332184" cy="415290"/>
          </a:xfrm>
          <a:prstGeom prst="rect">
            <a:avLst/>
          </a:prstGeom>
          <a:noFill/>
        </p:spPr>
        <p:txBody>
          <a:bodyPr wrap="none" lIns="0" tIns="0" rIns="0" bIns="0" rtlCol="0" anchor="t"/>
          <a:lstStyle/>
          <a:p>
            <a:pPr marL="0" indent="0" algn="ctr">
              <a:lnSpc>
                <a:spcPts val="2600"/>
              </a:lnSpc>
              <a:buNone/>
            </a:pPr>
            <a:r>
              <a:rPr lang="en-US" sz="2600" dirty="0">
                <a:solidFill>
                  <a:srgbClr val="4C4C4D"/>
                </a:solidFill>
                <a:latin typeface="Crimson Pro Semi Bold" pitchFamily="34" charset="0"/>
                <a:ea typeface="Crimson Pro Semi Bold" pitchFamily="34" charset="-122"/>
                <a:cs typeface="Crimson Pro Semi Bold" pitchFamily="34" charset="-120"/>
              </a:rPr>
              <a:t>2</a:t>
            </a:r>
            <a:endParaRPr lang="en-US" sz="2600" dirty="0"/>
          </a:p>
        </p:txBody>
      </p:sp>
      <p:sp>
        <p:nvSpPr>
          <p:cNvPr id="9" name="Text 7"/>
          <p:cNvSpPr/>
          <p:nvPr/>
        </p:nvSpPr>
        <p:spPr>
          <a:xfrm>
            <a:off x="8173283" y="1822132"/>
            <a:ext cx="2768679" cy="345996"/>
          </a:xfrm>
          <a:prstGeom prst="rect">
            <a:avLst/>
          </a:prstGeom>
          <a:noFill/>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Preprocessing</a:t>
            </a:r>
            <a:endParaRPr lang="en-US" sz="2150" dirty="0"/>
          </a:p>
        </p:txBody>
      </p:sp>
      <p:sp>
        <p:nvSpPr>
          <p:cNvPr id="10" name="Text 8"/>
          <p:cNvSpPr/>
          <p:nvPr/>
        </p:nvSpPr>
        <p:spPr>
          <a:xfrm>
            <a:off x="8173283" y="2301002"/>
            <a:ext cx="5681901" cy="708660"/>
          </a:xfrm>
          <a:prstGeom prst="rect">
            <a:avLst/>
          </a:prstGeom>
          <a:noFill/>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Cleaned and normalized the dataset to handle missing values and outliers.</a:t>
            </a:r>
            <a:endParaRPr lang="en-US" sz="1700" dirty="0"/>
          </a:p>
        </p:txBody>
      </p:sp>
      <p:sp>
        <p:nvSpPr>
          <p:cNvPr id="11" name="Shape 9"/>
          <p:cNvSpPr/>
          <p:nvPr/>
        </p:nvSpPr>
        <p:spPr>
          <a:xfrm>
            <a:off x="775216" y="3452574"/>
            <a:ext cx="498277" cy="498277"/>
          </a:xfrm>
          <a:prstGeom prst="roundRect">
            <a:avLst>
              <a:gd name="adj" fmla="val 6668"/>
            </a:avLst>
          </a:prstGeom>
          <a:solidFill>
            <a:srgbClr val="F2EEEE"/>
          </a:solidFill>
        </p:spPr>
      </p:sp>
      <p:sp>
        <p:nvSpPr>
          <p:cNvPr id="12" name="Text 10"/>
          <p:cNvSpPr/>
          <p:nvPr/>
        </p:nvSpPr>
        <p:spPr>
          <a:xfrm>
            <a:off x="858203" y="3494008"/>
            <a:ext cx="332184" cy="415290"/>
          </a:xfrm>
          <a:prstGeom prst="rect">
            <a:avLst/>
          </a:prstGeom>
          <a:noFill/>
        </p:spPr>
        <p:txBody>
          <a:bodyPr wrap="none" lIns="0" tIns="0" rIns="0" bIns="0" rtlCol="0" anchor="t"/>
          <a:lstStyle/>
          <a:p>
            <a:pPr marL="0" indent="0" algn="ctr">
              <a:lnSpc>
                <a:spcPts val="2600"/>
              </a:lnSpc>
              <a:buNone/>
            </a:pPr>
            <a:r>
              <a:rPr lang="en-US" sz="2600" dirty="0">
                <a:solidFill>
                  <a:srgbClr val="4C4C4D"/>
                </a:solidFill>
                <a:latin typeface="Crimson Pro Semi Bold" pitchFamily="34" charset="0"/>
                <a:ea typeface="Crimson Pro Semi Bold" pitchFamily="34" charset="-122"/>
                <a:cs typeface="Crimson Pro Semi Bold" pitchFamily="34" charset="-120"/>
              </a:rPr>
              <a:t>3</a:t>
            </a:r>
            <a:endParaRPr lang="en-US" sz="2600" dirty="0"/>
          </a:p>
        </p:txBody>
      </p:sp>
      <p:sp>
        <p:nvSpPr>
          <p:cNvPr id="13" name="Text 11"/>
          <p:cNvSpPr/>
          <p:nvPr/>
        </p:nvSpPr>
        <p:spPr>
          <a:xfrm>
            <a:off x="1494949" y="3528655"/>
            <a:ext cx="2768679" cy="345996"/>
          </a:xfrm>
          <a:prstGeom prst="rect">
            <a:avLst/>
          </a:prstGeom>
          <a:noFill/>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Feature Engineering</a:t>
            </a:r>
            <a:endParaRPr lang="en-US" sz="2150" dirty="0"/>
          </a:p>
        </p:txBody>
      </p:sp>
      <p:sp>
        <p:nvSpPr>
          <p:cNvPr id="14" name="Text 12"/>
          <p:cNvSpPr/>
          <p:nvPr/>
        </p:nvSpPr>
        <p:spPr>
          <a:xfrm>
            <a:off x="1494949" y="4007525"/>
            <a:ext cx="5681782" cy="354330"/>
          </a:xfrm>
          <a:prstGeom prst="rect">
            <a:avLst/>
          </a:prstGeom>
          <a:noFill/>
        </p:spPr>
        <p:txBody>
          <a:bodyPr wrap="non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Selected relevant features affecting AQI calculation.</a:t>
            </a:r>
            <a:endParaRPr lang="en-US" sz="1700" dirty="0"/>
          </a:p>
        </p:txBody>
      </p:sp>
      <p:sp>
        <p:nvSpPr>
          <p:cNvPr id="15" name="Shape 13"/>
          <p:cNvSpPr/>
          <p:nvPr/>
        </p:nvSpPr>
        <p:spPr>
          <a:xfrm>
            <a:off x="7453551" y="3452574"/>
            <a:ext cx="498277" cy="498277"/>
          </a:xfrm>
          <a:prstGeom prst="roundRect">
            <a:avLst>
              <a:gd name="adj" fmla="val 6668"/>
            </a:avLst>
          </a:prstGeom>
          <a:solidFill>
            <a:srgbClr val="F2EEEE"/>
          </a:solidFill>
        </p:spPr>
      </p:sp>
      <p:sp>
        <p:nvSpPr>
          <p:cNvPr id="16" name="Text 14"/>
          <p:cNvSpPr/>
          <p:nvPr/>
        </p:nvSpPr>
        <p:spPr>
          <a:xfrm>
            <a:off x="7536537" y="3494008"/>
            <a:ext cx="332184" cy="415290"/>
          </a:xfrm>
          <a:prstGeom prst="rect">
            <a:avLst/>
          </a:prstGeom>
          <a:noFill/>
        </p:spPr>
        <p:txBody>
          <a:bodyPr wrap="none" lIns="0" tIns="0" rIns="0" bIns="0" rtlCol="0" anchor="t"/>
          <a:lstStyle/>
          <a:p>
            <a:pPr marL="0" indent="0" algn="ctr">
              <a:lnSpc>
                <a:spcPts val="2600"/>
              </a:lnSpc>
              <a:buNone/>
            </a:pPr>
            <a:r>
              <a:rPr lang="en-US" sz="2600" dirty="0">
                <a:solidFill>
                  <a:srgbClr val="4C4C4D"/>
                </a:solidFill>
                <a:latin typeface="Crimson Pro Semi Bold" pitchFamily="34" charset="0"/>
                <a:ea typeface="Crimson Pro Semi Bold" pitchFamily="34" charset="-122"/>
                <a:cs typeface="Crimson Pro Semi Bold" pitchFamily="34" charset="-120"/>
              </a:rPr>
              <a:t>4</a:t>
            </a:r>
            <a:endParaRPr lang="en-US" sz="2600" dirty="0"/>
          </a:p>
        </p:txBody>
      </p:sp>
      <p:sp>
        <p:nvSpPr>
          <p:cNvPr id="17" name="Text 15"/>
          <p:cNvSpPr/>
          <p:nvPr/>
        </p:nvSpPr>
        <p:spPr>
          <a:xfrm>
            <a:off x="8173283" y="3528655"/>
            <a:ext cx="2768679" cy="345996"/>
          </a:xfrm>
          <a:prstGeom prst="rect">
            <a:avLst/>
          </a:prstGeom>
          <a:noFill/>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Model Development</a:t>
            </a:r>
            <a:endParaRPr lang="en-US" sz="2150" dirty="0"/>
          </a:p>
        </p:txBody>
      </p:sp>
      <p:sp>
        <p:nvSpPr>
          <p:cNvPr id="18" name="Text 16"/>
          <p:cNvSpPr/>
          <p:nvPr/>
        </p:nvSpPr>
        <p:spPr>
          <a:xfrm>
            <a:off x="8173283" y="4007525"/>
            <a:ext cx="5681901" cy="708660"/>
          </a:xfrm>
          <a:prstGeom prst="rect">
            <a:avLst/>
          </a:prstGeom>
          <a:noFill/>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Used Deep Learning models (e.g., ANN/LSTM) for AQI prediction.</a:t>
            </a:r>
            <a:endParaRPr lang="en-US" sz="1700" dirty="0"/>
          </a:p>
        </p:txBody>
      </p:sp>
      <p:sp>
        <p:nvSpPr>
          <p:cNvPr id="19" name="Text 17"/>
          <p:cNvSpPr/>
          <p:nvPr/>
        </p:nvSpPr>
        <p:spPr>
          <a:xfrm>
            <a:off x="8173283" y="4849058"/>
            <a:ext cx="5681901" cy="708660"/>
          </a:xfrm>
          <a:prstGeom prst="rect">
            <a:avLst/>
          </a:prstGeom>
          <a:noFill/>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Trained and validated model with historical air quality data.</a:t>
            </a:r>
            <a:endParaRPr lang="en-US" sz="1700" dirty="0"/>
          </a:p>
        </p:txBody>
      </p:sp>
      <p:sp>
        <p:nvSpPr>
          <p:cNvPr id="20" name="Shape 18"/>
          <p:cNvSpPr/>
          <p:nvPr/>
        </p:nvSpPr>
        <p:spPr>
          <a:xfrm>
            <a:off x="775216" y="6000631"/>
            <a:ext cx="498277" cy="498277"/>
          </a:xfrm>
          <a:prstGeom prst="roundRect">
            <a:avLst>
              <a:gd name="adj" fmla="val 6668"/>
            </a:avLst>
          </a:prstGeom>
          <a:solidFill>
            <a:srgbClr val="F2EEEE"/>
          </a:solidFill>
        </p:spPr>
      </p:sp>
      <p:sp>
        <p:nvSpPr>
          <p:cNvPr id="21" name="Text 19"/>
          <p:cNvSpPr/>
          <p:nvPr/>
        </p:nvSpPr>
        <p:spPr>
          <a:xfrm>
            <a:off x="858203" y="6042065"/>
            <a:ext cx="332184" cy="415290"/>
          </a:xfrm>
          <a:prstGeom prst="rect">
            <a:avLst/>
          </a:prstGeom>
          <a:noFill/>
        </p:spPr>
        <p:txBody>
          <a:bodyPr wrap="none" lIns="0" tIns="0" rIns="0" bIns="0" rtlCol="0" anchor="t"/>
          <a:lstStyle/>
          <a:p>
            <a:pPr marL="0" indent="0" algn="ctr">
              <a:lnSpc>
                <a:spcPts val="2600"/>
              </a:lnSpc>
              <a:buNone/>
            </a:pPr>
            <a:r>
              <a:rPr lang="en-US" sz="2600" dirty="0">
                <a:solidFill>
                  <a:srgbClr val="4C4C4D"/>
                </a:solidFill>
                <a:latin typeface="Crimson Pro Semi Bold" pitchFamily="34" charset="0"/>
                <a:ea typeface="Crimson Pro Semi Bold" pitchFamily="34" charset="-122"/>
                <a:cs typeface="Crimson Pro Semi Bold" pitchFamily="34" charset="-120"/>
              </a:rPr>
              <a:t>5</a:t>
            </a:r>
            <a:endParaRPr lang="en-US" sz="2600" dirty="0"/>
          </a:p>
        </p:txBody>
      </p:sp>
      <p:sp>
        <p:nvSpPr>
          <p:cNvPr id="22" name="Text 20"/>
          <p:cNvSpPr/>
          <p:nvPr/>
        </p:nvSpPr>
        <p:spPr>
          <a:xfrm>
            <a:off x="1494949" y="6076712"/>
            <a:ext cx="2768679" cy="345996"/>
          </a:xfrm>
          <a:prstGeom prst="rect">
            <a:avLst/>
          </a:prstGeom>
          <a:noFill/>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AQI Classification</a:t>
            </a:r>
            <a:endParaRPr lang="en-US" sz="2150" dirty="0"/>
          </a:p>
        </p:txBody>
      </p:sp>
      <p:sp>
        <p:nvSpPr>
          <p:cNvPr id="23" name="Text 21"/>
          <p:cNvSpPr/>
          <p:nvPr/>
        </p:nvSpPr>
        <p:spPr>
          <a:xfrm>
            <a:off x="1494949" y="6555581"/>
            <a:ext cx="5681782" cy="1062990"/>
          </a:xfrm>
          <a:prstGeom prst="rect">
            <a:avLst/>
          </a:prstGeom>
          <a:noFill/>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Mapped predicted AQI values into health-based categories (Good, Moderate, Poor, Unhealthy, Hazardous).</a:t>
            </a:r>
            <a:endParaRPr lang="en-US" sz="1700" dirty="0"/>
          </a:p>
        </p:txBody>
      </p:sp>
      <p:sp>
        <p:nvSpPr>
          <p:cNvPr id="24" name="Shape 22"/>
          <p:cNvSpPr/>
          <p:nvPr/>
        </p:nvSpPr>
        <p:spPr>
          <a:xfrm>
            <a:off x="7453551" y="6000631"/>
            <a:ext cx="498277" cy="498277"/>
          </a:xfrm>
          <a:prstGeom prst="roundRect">
            <a:avLst>
              <a:gd name="adj" fmla="val 6668"/>
            </a:avLst>
          </a:prstGeom>
          <a:solidFill>
            <a:srgbClr val="F2EEEE"/>
          </a:solidFill>
        </p:spPr>
      </p:sp>
      <p:sp>
        <p:nvSpPr>
          <p:cNvPr id="25" name="Text 23"/>
          <p:cNvSpPr/>
          <p:nvPr/>
        </p:nvSpPr>
        <p:spPr>
          <a:xfrm>
            <a:off x="7536537" y="6042065"/>
            <a:ext cx="332184" cy="415290"/>
          </a:xfrm>
          <a:prstGeom prst="rect">
            <a:avLst/>
          </a:prstGeom>
          <a:noFill/>
        </p:spPr>
        <p:txBody>
          <a:bodyPr wrap="none" lIns="0" tIns="0" rIns="0" bIns="0" rtlCol="0" anchor="t"/>
          <a:lstStyle/>
          <a:p>
            <a:pPr marL="0" indent="0" algn="ctr">
              <a:lnSpc>
                <a:spcPts val="2600"/>
              </a:lnSpc>
              <a:buNone/>
            </a:pPr>
            <a:r>
              <a:rPr lang="en-US" sz="2600" dirty="0">
                <a:solidFill>
                  <a:srgbClr val="4C4C4D"/>
                </a:solidFill>
                <a:latin typeface="Crimson Pro Semi Bold" pitchFamily="34" charset="0"/>
                <a:ea typeface="Crimson Pro Semi Bold" pitchFamily="34" charset="-122"/>
                <a:cs typeface="Crimson Pro Semi Bold" pitchFamily="34" charset="-120"/>
              </a:rPr>
              <a:t>6</a:t>
            </a:r>
            <a:endParaRPr lang="en-US" sz="2600" dirty="0"/>
          </a:p>
        </p:txBody>
      </p:sp>
      <p:sp>
        <p:nvSpPr>
          <p:cNvPr id="26" name="Text 24"/>
          <p:cNvSpPr/>
          <p:nvPr/>
        </p:nvSpPr>
        <p:spPr>
          <a:xfrm>
            <a:off x="8173283" y="6076712"/>
            <a:ext cx="2768679" cy="345996"/>
          </a:xfrm>
          <a:prstGeom prst="rect">
            <a:avLst/>
          </a:prstGeom>
          <a:noFill/>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Evaluation Metrics</a:t>
            </a:r>
            <a:endParaRPr lang="en-US" sz="2150" dirty="0"/>
          </a:p>
        </p:txBody>
      </p:sp>
      <p:sp>
        <p:nvSpPr>
          <p:cNvPr id="27" name="Text 25"/>
          <p:cNvSpPr/>
          <p:nvPr/>
        </p:nvSpPr>
        <p:spPr>
          <a:xfrm>
            <a:off x="8173283" y="6555581"/>
            <a:ext cx="5681901" cy="708660"/>
          </a:xfrm>
          <a:prstGeom prst="rect">
            <a:avLst/>
          </a:prstGeom>
          <a:noFill/>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Measured performance using RMSE, MAE, and classification accuracy.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4" name="Text 1"/>
          <p:cNvSpPr/>
          <p:nvPr/>
        </p:nvSpPr>
        <p:spPr>
          <a:xfrm>
            <a:off x="6616110" y="1917741"/>
            <a:ext cx="7752159" cy="636270"/>
          </a:xfrm>
          <a:prstGeom prst="rect">
            <a:avLst/>
          </a:prstGeom>
          <a:noFill/>
        </p:spPr>
        <p:txBody>
          <a:bodyPr wrap="square" lIns="0" tIns="0" rIns="0" bIns="0" rtlCol="0" anchor="t"/>
          <a:lstStyle/>
          <a:p>
            <a:pPr marL="0" indent="0" algn="l">
              <a:lnSpc>
                <a:spcPts val="2500"/>
              </a:lnSpc>
              <a:buNone/>
            </a:pPr>
            <a:endParaRPr lang="en-US" sz="1550" dirty="0"/>
          </a:p>
        </p:txBody>
      </p:sp>
      <p:sp>
        <p:nvSpPr>
          <p:cNvPr id="20" name="TextBox 19">
            <a:extLst>
              <a:ext uri="{FF2B5EF4-FFF2-40B4-BE49-F238E27FC236}">
                <a16:creationId xmlns:a16="http://schemas.microsoft.com/office/drawing/2014/main" id="{CDA09EAA-6FF0-212A-2223-8A7BDFFF8991}"/>
              </a:ext>
            </a:extLst>
          </p:cNvPr>
          <p:cNvSpPr txBox="1"/>
          <p:nvPr/>
        </p:nvSpPr>
        <p:spPr>
          <a:xfrm>
            <a:off x="6192456" y="1215342"/>
            <a:ext cx="7917083" cy="5786199"/>
          </a:xfrm>
          <a:prstGeom prst="rect">
            <a:avLst/>
          </a:prstGeom>
          <a:noFill/>
        </p:spPr>
        <p:txBody>
          <a:bodyPr wrap="square" rtlCol="0">
            <a:spAutoFit/>
          </a:bodyPr>
          <a:lstStyle/>
          <a:p>
            <a:r>
              <a:rPr lang="en-IN" sz="3200" b="1" dirty="0">
                <a:latin typeface="Crimson Pro Semi Bold" panose="020B0604020202020204" charset="0"/>
              </a:rPr>
              <a:t>Classification Model (to classify Good/Moderate/Poor/Unhealthy/Hazardous</a:t>
            </a:r>
            <a:r>
              <a:rPr lang="en-IN" b="1" dirty="0">
                <a:latin typeface="Crimson Pro Semi Bold" panose="020B0604020202020204" charset="0"/>
              </a:rPr>
              <a:t>)</a:t>
            </a:r>
          </a:p>
          <a:p>
            <a:endParaRPr lang="en-IN" dirty="0"/>
          </a:p>
          <a:p>
            <a:pPr algn="just"/>
            <a:r>
              <a:rPr lang="en-IN" dirty="0"/>
              <a:t>Type: Feedforward Artificial Neural Network (ANN)</a:t>
            </a:r>
          </a:p>
          <a:p>
            <a:pPr algn="just"/>
            <a:endParaRPr lang="en-IN" dirty="0"/>
          </a:p>
          <a:p>
            <a:pPr algn="just"/>
            <a:r>
              <a:rPr lang="en-IN" sz="2000" b="1" u="sng" dirty="0">
                <a:latin typeface="Crimson Pro Semi Bold" panose="020B0604020202020204" charset="0"/>
              </a:rPr>
              <a:t>Architecture</a:t>
            </a:r>
            <a:r>
              <a:rPr lang="en-IN" dirty="0"/>
              <a:t>:</a:t>
            </a:r>
          </a:p>
          <a:p>
            <a:pPr algn="just"/>
            <a:endParaRPr lang="en-IN" dirty="0"/>
          </a:p>
          <a:p>
            <a:pPr algn="just"/>
            <a:r>
              <a:rPr lang="en-IN" b="1" dirty="0"/>
              <a:t>Input layer </a:t>
            </a:r>
            <a:r>
              <a:rPr lang="en-IN" dirty="0"/>
              <a:t>→ SO₂, NO₂, RSPM, SPM</a:t>
            </a:r>
          </a:p>
          <a:p>
            <a:pPr algn="just"/>
            <a:endParaRPr lang="en-IN" dirty="0"/>
          </a:p>
          <a:p>
            <a:pPr algn="just"/>
            <a:r>
              <a:rPr lang="en-IN" b="1" dirty="0"/>
              <a:t>Hidden layers </a:t>
            </a:r>
            <a:r>
              <a:rPr lang="en-IN" dirty="0"/>
              <a:t>→ Dense layers with </a:t>
            </a:r>
            <a:r>
              <a:rPr lang="en-IN" dirty="0" err="1"/>
              <a:t>ReLU</a:t>
            </a:r>
            <a:r>
              <a:rPr lang="en-IN" dirty="0"/>
              <a:t> activation + Dropout (to prevent overfitting)</a:t>
            </a:r>
          </a:p>
          <a:p>
            <a:pPr algn="just"/>
            <a:endParaRPr lang="en-IN" dirty="0"/>
          </a:p>
          <a:p>
            <a:pPr algn="just"/>
            <a:r>
              <a:rPr lang="en-IN" b="1" dirty="0"/>
              <a:t>Output layer </a:t>
            </a:r>
            <a:r>
              <a:rPr lang="en-IN" dirty="0"/>
              <a:t>→ </a:t>
            </a:r>
            <a:r>
              <a:rPr lang="en-IN" dirty="0" err="1"/>
              <a:t>Softmax</a:t>
            </a:r>
            <a:r>
              <a:rPr lang="en-IN" dirty="0"/>
              <a:t> layer with 5 neurons (one for each AQI category)</a:t>
            </a:r>
          </a:p>
          <a:p>
            <a:pPr algn="just"/>
            <a:endParaRPr lang="en-IN" dirty="0"/>
          </a:p>
          <a:p>
            <a:pPr algn="just"/>
            <a:r>
              <a:rPr lang="en-IN" b="1" dirty="0"/>
              <a:t>Loss function</a:t>
            </a:r>
            <a:r>
              <a:rPr lang="en-IN" dirty="0"/>
              <a:t>: Categorical </a:t>
            </a:r>
            <a:r>
              <a:rPr lang="en-IN" dirty="0" err="1"/>
              <a:t>Crossentropy</a:t>
            </a:r>
            <a:endParaRPr lang="en-IN" dirty="0"/>
          </a:p>
          <a:p>
            <a:pPr algn="just"/>
            <a:endParaRPr lang="en-IN" dirty="0"/>
          </a:p>
          <a:p>
            <a:pPr algn="just"/>
            <a:r>
              <a:rPr lang="en-IN" b="1" dirty="0"/>
              <a:t>Metric</a:t>
            </a:r>
            <a:r>
              <a:rPr lang="en-IN" dirty="0"/>
              <a:t>: Accuracy</a:t>
            </a:r>
          </a:p>
          <a:p>
            <a:pPr algn="just"/>
            <a:endParaRPr lang="en-IN" dirty="0"/>
          </a:p>
          <a:p>
            <a:pPr algn="just"/>
            <a:r>
              <a:rPr lang="en-IN" dirty="0"/>
              <a:t>👉 This predicts the AQI category.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2320" y="555427"/>
            <a:ext cx="7752159" cy="1243013"/>
          </a:xfrm>
          <a:prstGeom prst="rect">
            <a:avLst/>
          </a:prstGeom>
          <a:noFill/>
          <a:ln/>
        </p:spPr>
        <p:txBody>
          <a:bodyPr wrap="square" lIns="0" tIns="0" rIns="0" bIns="0" rtlCol="0" anchor="t"/>
          <a:lstStyle/>
          <a:p>
            <a:pPr marL="0" indent="0" algn="l">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Understanding Air Quality Index (AQI)</a:t>
            </a:r>
            <a:endParaRPr lang="en-US" sz="3900" dirty="0"/>
          </a:p>
        </p:txBody>
      </p:sp>
      <p:sp>
        <p:nvSpPr>
          <p:cNvPr id="4" name="Text 1"/>
          <p:cNvSpPr/>
          <p:nvPr/>
        </p:nvSpPr>
        <p:spPr>
          <a:xfrm>
            <a:off x="6182320" y="2096691"/>
            <a:ext cx="7752159" cy="636270"/>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The Air Quality Index serves as a crucial indicator that represents the combined impact of major pollutants affecting our environment and health.</a:t>
            </a:r>
            <a:endParaRPr lang="en-US" sz="1550" dirty="0"/>
          </a:p>
        </p:txBody>
      </p:sp>
      <p:sp>
        <p:nvSpPr>
          <p:cNvPr id="5" name="Shape 2"/>
          <p:cNvSpPr/>
          <p:nvPr/>
        </p:nvSpPr>
        <p:spPr>
          <a:xfrm>
            <a:off x="6182320" y="2956679"/>
            <a:ext cx="3776662" cy="2259330"/>
          </a:xfrm>
          <a:prstGeom prst="roundRect">
            <a:avLst>
              <a:gd name="adj" fmla="val 1320"/>
            </a:avLst>
          </a:prstGeom>
          <a:solidFill>
            <a:srgbClr val="F2EEEE"/>
          </a:solidFill>
          <a:ln/>
        </p:spPr>
      </p:sp>
      <p:sp>
        <p:nvSpPr>
          <p:cNvPr id="6" name="Shape 3"/>
          <p:cNvSpPr/>
          <p:nvPr/>
        </p:nvSpPr>
        <p:spPr>
          <a:xfrm>
            <a:off x="6381155" y="3155513"/>
            <a:ext cx="596503" cy="596503"/>
          </a:xfrm>
          <a:prstGeom prst="roundRect">
            <a:avLst>
              <a:gd name="adj" fmla="val 15327812"/>
            </a:avLst>
          </a:prstGeom>
          <a:solidFill>
            <a:srgbClr val="2150FE"/>
          </a:solidFill>
          <a:ln/>
        </p:spPr>
      </p:sp>
      <p:pic>
        <p:nvPicPr>
          <p:cNvPr id="7" name="Image 1" descr="preencoded.png"/>
          <p:cNvPicPr>
            <a:picLocks noChangeAspect="1"/>
          </p:cNvPicPr>
          <p:nvPr/>
        </p:nvPicPr>
        <p:blipFill>
          <a:blip r:embed="rId4"/>
          <a:stretch>
            <a:fillRect/>
          </a:stretch>
        </p:blipFill>
        <p:spPr>
          <a:xfrm>
            <a:off x="6545223" y="3286006"/>
            <a:ext cx="268367" cy="335518"/>
          </a:xfrm>
          <a:prstGeom prst="rect">
            <a:avLst/>
          </a:prstGeom>
        </p:spPr>
      </p:pic>
      <p:sp>
        <p:nvSpPr>
          <p:cNvPr id="8" name="Text 4"/>
          <p:cNvSpPr/>
          <p:nvPr/>
        </p:nvSpPr>
        <p:spPr>
          <a:xfrm>
            <a:off x="6381155" y="3950851"/>
            <a:ext cx="2485787" cy="310753"/>
          </a:xfrm>
          <a:prstGeom prst="rect">
            <a:avLst/>
          </a:prstGeom>
          <a:noFill/>
          <a:ln/>
        </p:spPr>
        <p:txBody>
          <a:bodyPr wrap="none" lIns="0" tIns="0" rIns="0" bIns="0" rtlCol="0" anchor="t"/>
          <a:lstStyle/>
          <a:p>
            <a:pPr marL="0" indent="0" algn="l">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Sulphur Dioxide (SO₂)</a:t>
            </a:r>
            <a:endParaRPr lang="en-US" sz="1950" dirty="0"/>
          </a:p>
        </p:txBody>
      </p:sp>
      <p:sp>
        <p:nvSpPr>
          <p:cNvPr id="9" name="Text 5"/>
          <p:cNvSpPr/>
          <p:nvPr/>
        </p:nvSpPr>
        <p:spPr>
          <a:xfrm>
            <a:off x="6381155" y="4380905"/>
            <a:ext cx="3378994" cy="636270"/>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Primary pollutant from industrial emissions and fossil fuel combustion.</a:t>
            </a:r>
            <a:endParaRPr lang="en-US" sz="1550" dirty="0"/>
          </a:p>
        </p:txBody>
      </p:sp>
      <p:sp>
        <p:nvSpPr>
          <p:cNvPr id="10" name="Shape 6"/>
          <p:cNvSpPr/>
          <p:nvPr/>
        </p:nvSpPr>
        <p:spPr>
          <a:xfrm>
            <a:off x="10157817" y="2956679"/>
            <a:ext cx="3776662" cy="2259330"/>
          </a:xfrm>
          <a:prstGeom prst="roundRect">
            <a:avLst>
              <a:gd name="adj" fmla="val 1320"/>
            </a:avLst>
          </a:prstGeom>
          <a:solidFill>
            <a:srgbClr val="F2EEEE"/>
          </a:solidFill>
          <a:ln/>
        </p:spPr>
      </p:sp>
      <p:sp>
        <p:nvSpPr>
          <p:cNvPr id="11" name="Shape 7"/>
          <p:cNvSpPr/>
          <p:nvPr/>
        </p:nvSpPr>
        <p:spPr>
          <a:xfrm>
            <a:off x="10356652" y="3155513"/>
            <a:ext cx="596503" cy="596503"/>
          </a:xfrm>
          <a:prstGeom prst="roundRect">
            <a:avLst>
              <a:gd name="adj" fmla="val 15327812"/>
            </a:avLst>
          </a:prstGeom>
          <a:solidFill>
            <a:srgbClr val="2150FE"/>
          </a:solidFill>
          <a:ln/>
        </p:spPr>
      </p:sp>
      <p:pic>
        <p:nvPicPr>
          <p:cNvPr id="12" name="Image 2" descr="preencoded.png"/>
          <p:cNvPicPr>
            <a:picLocks noChangeAspect="1"/>
          </p:cNvPicPr>
          <p:nvPr/>
        </p:nvPicPr>
        <p:blipFill>
          <a:blip r:embed="rId5"/>
          <a:stretch>
            <a:fillRect/>
          </a:stretch>
        </p:blipFill>
        <p:spPr>
          <a:xfrm>
            <a:off x="10520720" y="3286006"/>
            <a:ext cx="268367" cy="335518"/>
          </a:xfrm>
          <a:prstGeom prst="rect">
            <a:avLst/>
          </a:prstGeom>
        </p:spPr>
      </p:pic>
      <p:sp>
        <p:nvSpPr>
          <p:cNvPr id="13" name="Text 8"/>
          <p:cNvSpPr/>
          <p:nvPr/>
        </p:nvSpPr>
        <p:spPr>
          <a:xfrm>
            <a:off x="10356652" y="3950851"/>
            <a:ext cx="2485787" cy="310753"/>
          </a:xfrm>
          <a:prstGeom prst="rect">
            <a:avLst/>
          </a:prstGeom>
          <a:noFill/>
          <a:ln/>
        </p:spPr>
        <p:txBody>
          <a:bodyPr wrap="none" lIns="0" tIns="0" rIns="0" bIns="0" rtlCol="0" anchor="t"/>
          <a:lstStyle/>
          <a:p>
            <a:pPr marL="0" indent="0" algn="l">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Nitrogen Dioxide (NO₂)</a:t>
            </a:r>
            <a:endParaRPr lang="en-US" sz="1950" dirty="0"/>
          </a:p>
        </p:txBody>
      </p:sp>
      <p:sp>
        <p:nvSpPr>
          <p:cNvPr id="14" name="Text 9"/>
          <p:cNvSpPr/>
          <p:nvPr/>
        </p:nvSpPr>
        <p:spPr>
          <a:xfrm>
            <a:off x="10356652" y="4380905"/>
            <a:ext cx="3378994" cy="636270"/>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Mainly from vehicle emissions and power plants.</a:t>
            </a:r>
            <a:endParaRPr lang="en-US" sz="1550" dirty="0"/>
          </a:p>
        </p:txBody>
      </p:sp>
      <p:sp>
        <p:nvSpPr>
          <p:cNvPr id="15" name="Shape 10"/>
          <p:cNvSpPr/>
          <p:nvPr/>
        </p:nvSpPr>
        <p:spPr>
          <a:xfrm>
            <a:off x="6182320" y="5414843"/>
            <a:ext cx="7752159" cy="2259330"/>
          </a:xfrm>
          <a:prstGeom prst="roundRect">
            <a:avLst>
              <a:gd name="adj" fmla="val 1320"/>
            </a:avLst>
          </a:prstGeom>
          <a:solidFill>
            <a:srgbClr val="F2EEEE"/>
          </a:solidFill>
          <a:ln/>
        </p:spPr>
      </p:sp>
      <p:sp>
        <p:nvSpPr>
          <p:cNvPr id="16" name="Shape 11"/>
          <p:cNvSpPr/>
          <p:nvPr/>
        </p:nvSpPr>
        <p:spPr>
          <a:xfrm>
            <a:off x="6381155" y="5613678"/>
            <a:ext cx="596503" cy="596503"/>
          </a:xfrm>
          <a:prstGeom prst="roundRect">
            <a:avLst>
              <a:gd name="adj" fmla="val 15327812"/>
            </a:avLst>
          </a:prstGeom>
          <a:solidFill>
            <a:srgbClr val="2150FE"/>
          </a:solidFill>
          <a:ln/>
        </p:spPr>
      </p:sp>
      <p:pic>
        <p:nvPicPr>
          <p:cNvPr id="17" name="Image 3" descr="preencoded.png"/>
          <p:cNvPicPr>
            <a:picLocks noChangeAspect="1"/>
          </p:cNvPicPr>
          <p:nvPr/>
        </p:nvPicPr>
        <p:blipFill>
          <a:blip r:embed="rId6"/>
          <a:stretch>
            <a:fillRect/>
          </a:stretch>
        </p:blipFill>
        <p:spPr>
          <a:xfrm>
            <a:off x="6545223" y="5744170"/>
            <a:ext cx="268367" cy="335518"/>
          </a:xfrm>
          <a:prstGeom prst="rect">
            <a:avLst/>
          </a:prstGeom>
        </p:spPr>
      </p:pic>
      <p:sp>
        <p:nvSpPr>
          <p:cNvPr id="18" name="Text 12"/>
          <p:cNvSpPr/>
          <p:nvPr/>
        </p:nvSpPr>
        <p:spPr>
          <a:xfrm>
            <a:off x="6381155" y="6409015"/>
            <a:ext cx="3282315" cy="310753"/>
          </a:xfrm>
          <a:prstGeom prst="rect">
            <a:avLst/>
          </a:prstGeom>
          <a:noFill/>
          <a:ln/>
        </p:spPr>
        <p:txBody>
          <a:bodyPr wrap="none" lIns="0" tIns="0" rIns="0" bIns="0" rtlCol="0" anchor="t"/>
          <a:lstStyle/>
          <a:p>
            <a:pPr marL="0" indent="0" algn="l">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Particulate Matter (RSPM/SPM)</a:t>
            </a:r>
            <a:endParaRPr lang="en-US" sz="1950" dirty="0"/>
          </a:p>
        </p:txBody>
      </p:sp>
      <p:sp>
        <p:nvSpPr>
          <p:cNvPr id="19" name="Text 13"/>
          <p:cNvSpPr/>
          <p:nvPr/>
        </p:nvSpPr>
        <p:spPr>
          <a:xfrm>
            <a:off x="6381155" y="6839069"/>
            <a:ext cx="7354491" cy="636270"/>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Tiny particles suspended in air from construction, vehicles, and industrial activities, penetrating deep into lungs.</a:t>
            </a:r>
            <a:endParaRPr lang="en-US" sz="1550" dirty="0"/>
          </a:p>
        </p:txBody>
      </p:sp>
    </p:spTree>
    <p:extLst>
      <p:ext uri="{BB962C8B-B14F-4D97-AF65-F5344CB8AC3E}">
        <p14:creationId xmlns:p14="http://schemas.microsoft.com/office/powerpoint/2010/main" val="3674227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718661" y="572572"/>
            <a:ext cx="7978973" cy="641747"/>
          </a:xfrm>
          <a:prstGeom prst="rect">
            <a:avLst/>
          </a:prstGeom>
          <a:noFill/>
        </p:spPr>
        <p:txBody>
          <a:bodyPr wrap="none" lIns="0" tIns="0" rIns="0" bIns="0" rtlCol="0" anchor="t"/>
          <a:lstStyle/>
          <a:p>
            <a:pPr marL="0" indent="0" algn="l">
              <a:lnSpc>
                <a:spcPts val="5050"/>
              </a:lnSpc>
              <a:buNone/>
            </a:pPr>
            <a:r>
              <a:rPr lang="en-US" sz="4000" dirty="0">
                <a:solidFill>
                  <a:srgbClr val="152D47"/>
                </a:solidFill>
                <a:latin typeface="Crimson Pro Semi Bold" pitchFamily="34" charset="0"/>
                <a:ea typeface="Crimson Pro Semi Bold" pitchFamily="34" charset="-122"/>
                <a:cs typeface="Crimson Pro Semi Bold" pitchFamily="34" charset="-120"/>
              </a:rPr>
              <a:t>Understanding Air Quality Categories</a:t>
            </a:r>
            <a:endParaRPr lang="en-US" sz="4000" dirty="0"/>
          </a:p>
        </p:txBody>
      </p:sp>
      <p:sp>
        <p:nvSpPr>
          <p:cNvPr id="3" name="Text 1"/>
          <p:cNvSpPr/>
          <p:nvPr/>
        </p:nvSpPr>
        <p:spPr>
          <a:xfrm>
            <a:off x="718661" y="1624965"/>
            <a:ext cx="13193078" cy="657225"/>
          </a:xfrm>
          <a:prstGeom prst="rect">
            <a:avLst/>
          </a:prstGeom>
          <a:noFill/>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Once we have our AQI predictions, we need to translate these numbers into categories that everyone can understand and act upon. Here's how we classify air quality levels:</a:t>
            </a:r>
            <a:endParaRPr lang="en-US" sz="1600" dirty="0"/>
          </a:p>
        </p:txBody>
      </p:sp>
      <p:sp>
        <p:nvSpPr>
          <p:cNvPr id="4" name="Shape 2"/>
          <p:cNvSpPr/>
          <p:nvPr/>
        </p:nvSpPr>
        <p:spPr>
          <a:xfrm>
            <a:off x="718661" y="2513171"/>
            <a:ext cx="13193078" cy="4255532"/>
          </a:xfrm>
          <a:prstGeom prst="roundRect">
            <a:avLst>
              <a:gd name="adj" fmla="val 724"/>
            </a:avLst>
          </a:prstGeom>
          <a:solidFill>
            <a:srgbClr val="F2EEEE"/>
          </a:solidFill>
        </p:spPr>
      </p:sp>
      <p:sp>
        <p:nvSpPr>
          <p:cNvPr id="5" name="Shape 3"/>
          <p:cNvSpPr/>
          <p:nvPr/>
        </p:nvSpPr>
        <p:spPr>
          <a:xfrm>
            <a:off x="718661" y="2513171"/>
            <a:ext cx="4397693" cy="2292072"/>
          </a:xfrm>
          <a:prstGeom prst="roundRect">
            <a:avLst>
              <a:gd name="adj" fmla="val 1344"/>
            </a:avLst>
          </a:prstGeom>
          <a:solidFill>
            <a:srgbClr val="F2EEEE"/>
          </a:solidFill>
        </p:spPr>
      </p:sp>
      <p:sp>
        <p:nvSpPr>
          <p:cNvPr id="6" name="Text 4"/>
          <p:cNvSpPr/>
          <p:nvPr/>
        </p:nvSpPr>
        <p:spPr>
          <a:xfrm>
            <a:off x="923925" y="2718435"/>
            <a:ext cx="2566749" cy="320873"/>
          </a:xfrm>
          <a:prstGeom prst="rect">
            <a:avLst/>
          </a:prstGeom>
          <a:noFill/>
        </p:spPr>
        <p:txBody>
          <a:bodyPr wrap="none" lIns="0" tIns="0" rIns="0" bIns="0" rtlCol="0" anchor="t"/>
          <a:lstStyle/>
          <a:p>
            <a:pPr marL="0" indent="0" algn="l">
              <a:lnSpc>
                <a:spcPts val="2500"/>
              </a:lnSpc>
              <a:buNone/>
            </a:pPr>
            <a:r>
              <a:rPr lang="en-US" sz="2000" dirty="0">
                <a:solidFill>
                  <a:srgbClr val="000000"/>
                </a:solidFill>
                <a:latin typeface="Crimson Pro Semi Bold" pitchFamily="34" charset="0"/>
                <a:ea typeface="Crimson Pro Semi Bold" pitchFamily="34" charset="-122"/>
                <a:cs typeface="Crimson Pro Semi Bold" pitchFamily="34" charset="-120"/>
              </a:rPr>
              <a:t>🟢</a:t>
            </a:r>
            <a:r>
              <a:rPr lang="en-US" sz="2000" dirty="0">
                <a:solidFill>
                  <a:srgbClr val="4C4C4D"/>
                </a:solidFill>
                <a:latin typeface="Crimson Pro Semi Bold" pitchFamily="34" charset="0"/>
                <a:ea typeface="Crimson Pro Semi Bold" pitchFamily="34" charset="-122"/>
                <a:cs typeface="Crimson Pro Semi Bold" pitchFamily="34" charset="-120"/>
              </a:rPr>
              <a:t> Good</a:t>
            </a:r>
            <a:endParaRPr lang="en-US" sz="2000" dirty="0"/>
          </a:p>
        </p:txBody>
      </p:sp>
      <p:sp>
        <p:nvSpPr>
          <p:cNvPr id="7" name="Text 5"/>
          <p:cNvSpPr/>
          <p:nvPr/>
        </p:nvSpPr>
        <p:spPr>
          <a:xfrm>
            <a:off x="923925" y="3162419"/>
            <a:ext cx="3987165" cy="328613"/>
          </a:xfrm>
          <a:prstGeom prst="rect">
            <a:avLst/>
          </a:prstGeom>
          <a:noFill/>
        </p:spPr>
        <p:txBody>
          <a:bodyPr wrap="none" lIns="0" tIns="0" rIns="0" bIns="0" rtlCol="0" anchor="t"/>
          <a:lstStyle/>
          <a:p>
            <a:pPr marL="0" indent="0" algn="l">
              <a:lnSpc>
                <a:spcPts val="2550"/>
              </a:lnSpc>
              <a:buNone/>
            </a:pPr>
            <a:r>
              <a:rPr lang="en-US" sz="1600" b="1" dirty="0">
                <a:solidFill>
                  <a:srgbClr val="4C4C4D"/>
                </a:solidFill>
                <a:latin typeface="Heebo" pitchFamily="34" charset="0"/>
                <a:ea typeface="Heebo" pitchFamily="34" charset="-122"/>
                <a:cs typeface="Heebo" pitchFamily="34" charset="-120"/>
              </a:rPr>
              <a:t>AQI: 0-50</a:t>
            </a:r>
            <a:endParaRPr lang="en-US" sz="1600" dirty="0"/>
          </a:p>
        </p:txBody>
      </p:sp>
      <p:sp>
        <p:nvSpPr>
          <p:cNvPr id="8" name="Text 6"/>
          <p:cNvSpPr/>
          <p:nvPr/>
        </p:nvSpPr>
        <p:spPr>
          <a:xfrm>
            <a:off x="923925" y="3614142"/>
            <a:ext cx="3987165" cy="985837"/>
          </a:xfrm>
          <a:prstGeom prst="rect">
            <a:avLst/>
          </a:prstGeom>
          <a:noFill/>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Safe to breathe. Perfect for outdoor activities and exercise. No health concerns for any group.</a:t>
            </a:r>
            <a:endParaRPr lang="en-US" sz="1600" dirty="0"/>
          </a:p>
        </p:txBody>
      </p:sp>
      <p:sp>
        <p:nvSpPr>
          <p:cNvPr id="9" name="Shape 7"/>
          <p:cNvSpPr/>
          <p:nvPr/>
        </p:nvSpPr>
        <p:spPr>
          <a:xfrm>
            <a:off x="5116354" y="2513171"/>
            <a:ext cx="4397693" cy="2292072"/>
          </a:xfrm>
          <a:prstGeom prst="rect">
            <a:avLst/>
          </a:prstGeom>
          <a:solidFill>
            <a:srgbClr val="F2EEEE"/>
          </a:solidFill>
        </p:spPr>
      </p:sp>
      <p:sp>
        <p:nvSpPr>
          <p:cNvPr id="10" name="Shape 8"/>
          <p:cNvSpPr/>
          <p:nvPr/>
        </p:nvSpPr>
        <p:spPr>
          <a:xfrm>
            <a:off x="5116354" y="2513171"/>
            <a:ext cx="22860" cy="2292072"/>
          </a:xfrm>
          <a:prstGeom prst="roundRect">
            <a:avLst>
              <a:gd name="adj" fmla="val 134740"/>
            </a:avLst>
          </a:prstGeom>
          <a:solidFill>
            <a:srgbClr val="D8D4D4"/>
          </a:solidFill>
        </p:spPr>
      </p:sp>
      <p:sp>
        <p:nvSpPr>
          <p:cNvPr id="11" name="Text 9"/>
          <p:cNvSpPr/>
          <p:nvPr/>
        </p:nvSpPr>
        <p:spPr>
          <a:xfrm>
            <a:off x="5321618" y="2718435"/>
            <a:ext cx="2566749" cy="320873"/>
          </a:xfrm>
          <a:prstGeom prst="rect">
            <a:avLst/>
          </a:prstGeom>
          <a:noFill/>
        </p:spPr>
        <p:txBody>
          <a:bodyPr wrap="none" lIns="0" tIns="0" rIns="0" bIns="0" rtlCol="0" anchor="t"/>
          <a:lstStyle/>
          <a:p>
            <a:pPr marL="0" indent="0" algn="l">
              <a:lnSpc>
                <a:spcPts val="2500"/>
              </a:lnSpc>
              <a:buNone/>
            </a:pPr>
            <a:r>
              <a:rPr lang="en-US" sz="2000" dirty="0">
                <a:solidFill>
                  <a:srgbClr val="000000"/>
                </a:solidFill>
                <a:latin typeface="Crimson Pro Semi Bold" pitchFamily="34" charset="0"/>
                <a:ea typeface="Crimson Pro Semi Bold" pitchFamily="34" charset="-122"/>
                <a:cs typeface="Crimson Pro Semi Bold" pitchFamily="34" charset="-120"/>
              </a:rPr>
              <a:t>🟡</a:t>
            </a:r>
            <a:r>
              <a:rPr lang="en-US" sz="2000" dirty="0">
                <a:solidFill>
                  <a:srgbClr val="4C4C4D"/>
                </a:solidFill>
                <a:latin typeface="Crimson Pro Semi Bold" pitchFamily="34" charset="0"/>
                <a:ea typeface="Crimson Pro Semi Bold" pitchFamily="34" charset="-122"/>
                <a:cs typeface="Crimson Pro Semi Bold" pitchFamily="34" charset="-120"/>
              </a:rPr>
              <a:t> Moderate</a:t>
            </a:r>
            <a:endParaRPr lang="en-US" sz="2000" dirty="0"/>
          </a:p>
        </p:txBody>
      </p:sp>
      <p:sp>
        <p:nvSpPr>
          <p:cNvPr id="12" name="Text 10"/>
          <p:cNvSpPr/>
          <p:nvPr/>
        </p:nvSpPr>
        <p:spPr>
          <a:xfrm>
            <a:off x="5321618" y="3162419"/>
            <a:ext cx="3987165" cy="328613"/>
          </a:xfrm>
          <a:prstGeom prst="rect">
            <a:avLst/>
          </a:prstGeom>
          <a:noFill/>
        </p:spPr>
        <p:txBody>
          <a:bodyPr wrap="none" lIns="0" tIns="0" rIns="0" bIns="0" rtlCol="0" anchor="t"/>
          <a:lstStyle/>
          <a:p>
            <a:pPr marL="0" indent="0" algn="l">
              <a:lnSpc>
                <a:spcPts val="2550"/>
              </a:lnSpc>
              <a:buNone/>
            </a:pPr>
            <a:r>
              <a:rPr lang="en-US" sz="1600" b="1" dirty="0">
                <a:solidFill>
                  <a:srgbClr val="4C4C4D"/>
                </a:solidFill>
                <a:latin typeface="Heebo" pitchFamily="34" charset="0"/>
                <a:ea typeface="Heebo" pitchFamily="34" charset="-122"/>
                <a:cs typeface="Heebo" pitchFamily="34" charset="-120"/>
              </a:rPr>
              <a:t>AQI: 51-100</a:t>
            </a:r>
            <a:endParaRPr lang="en-US" sz="1600" dirty="0"/>
          </a:p>
        </p:txBody>
      </p:sp>
      <p:sp>
        <p:nvSpPr>
          <p:cNvPr id="13" name="Text 11"/>
          <p:cNvSpPr/>
          <p:nvPr/>
        </p:nvSpPr>
        <p:spPr>
          <a:xfrm>
            <a:off x="5321618" y="3614142"/>
            <a:ext cx="3987165" cy="657225"/>
          </a:xfrm>
          <a:prstGeom prst="rect">
            <a:avLst/>
          </a:prstGeom>
          <a:noFill/>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Okay for most people. Unusually sensitive individuals may experience minor issues.</a:t>
            </a:r>
            <a:endParaRPr lang="en-US" sz="1600" dirty="0"/>
          </a:p>
        </p:txBody>
      </p:sp>
      <p:sp>
        <p:nvSpPr>
          <p:cNvPr id="14" name="Shape 12"/>
          <p:cNvSpPr/>
          <p:nvPr/>
        </p:nvSpPr>
        <p:spPr>
          <a:xfrm>
            <a:off x="9514046" y="2513171"/>
            <a:ext cx="4397693" cy="2292072"/>
          </a:xfrm>
          <a:prstGeom prst="rect">
            <a:avLst/>
          </a:prstGeom>
          <a:solidFill>
            <a:srgbClr val="F2EEEE"/>
          </a:solidFill>
        </p:spPr>
      </p:sp>
      <p:sp>
        <p:nvSpPr>
          <p:cNvPr id="15" name="Shape 13"/>
          <p:cNvSpPr/>
          <p:nvPr/>
        </p:nvSpPr>
        <p:spPr>
          <a:xfrm>
            <a:off x="9514046" y="2513171"/>
            <a:ext cx="22860" cy="2292072"/>
          </a:xfrm>
          <a:prstGeom prst="roundRect">
            <a:avLst>
              <a:gd name="adj" fmla="val 134740"/>
            </a:avLst>
          </a:prstGeom>
          <a:solidFill>
            <a:srgbClr val="D8D4D4"/>
          </a:solidFill>
        </p:spPr>
      </p:sp>
      <p:sp>
        <p:nvSpPr>
          <p:cNvPr id="16" name="Text 14"/>
          <p:cNvSpPr/>
          <p:nvPr/>
        </p:nvSpPr>
        <p:spPr>
          <a:xfrm>
            <a:off x="9719310" y="2718435"/>
            <a:ext cx="2566749" cy="320873"/>
          </a:xfrm>
          <a:prstGeom prst="rect">
            <a:avLst/>
          </a:prstGeom>
          <a:noFill/>
        </p:spPr>
        <p:txBody>
          <a:bodyPr wrap="none" lIns="0" tIns="0" rIns="0" bIns="0" rtlCol="0" anchor="t"/>
          <a:lstStyle/>
          <a:p>
            <a:pPr marL="0" indent="0" algn="l">
              <a:lnSpc>
                <a:spcPts val="2500"/>
              </a:lnSpc>
              <a:buNone/>
            </a:pPr>
            <a:r>
              <a:rPr lang="en-US" sz="2000" dirty="0">
                <a:solidFill>
                  <a:srgbClr val="000000"/>
                </a:solidFill>
                <a:latin typeface="Crimson Pro Semi Bold" pitchFamily="34" charset="0"/>
                <a:ea typeface="Crimson Pro Semi Bold" pitchFamily="34" charset="-122"/>
                <a:cs typeface="Crimson Pro Semi Bold" pitchFamily="34" charset="-120"/>
              </a:rPr>
              <a:t>🟠</a:t>
            </a:r>
            <a:r>
              <a:rPr lang="en-US" sz="2000" dirty="0">
                <a:solidFill>
                  <a:srgbClr val="4C4C4D"/>
                </a:solidFill>
                <a:latin typeface="Crimson Pro Semi Bold" pitchFamily="34" charset="0"/>
                <a:ea typeface="Crimson Pro Semi Bold" pitchFamily="34" charset="-122"/>
                <a:cs typeface="Crimson Pro Semi Bold" pitchFamily="34" charset="-120"/>
              </a:rPr>
              <a:t> Poor</a:t>
            </a:r>
            <a:endParaRPr lang="en-US" sz="2000" dirty="0"/>
          </a:p>
        </p:txBody>
      </p:sp>
      <p:sp>
        <p:nvSpPr>
          <p:cNvPr id="17" name="Text 15"/>
          <p:cNvSpPr/>
          <p:nvPr/>
        </p:nvSpPr>
        <p:spPr>
          <a:xfrm>
            <a:off x="9719310" y="3162419"/>
            <a:ext cx="3987165" cy="328613"/>
          </a:xfrm>
          <a:prstGeom prst="rect">
            <a:avLst/>
          </a:prstGeom>
          <a:noFill/>
        </p:spPr>
        <p:txBody>
          <a:bodyPr wrap="none" lIns="0" tIns="0" rIns="0" bIns="0" rtlCol="0" anchor="t"/>
          <a:lstStyle/>
          <a:p>
            <a:pPr marL="0" indent="0" algn="l">
              <a:lnSpc>
                <a:spcPts val="2550"/>
              </a:lnSpc>
              <a:buNone/>
            </a:pPr>
            <a:r>
              <a:rPr lang="en-US" sz="1600" b="1" dirty="0">
                <a:solidFill>
                  <a:srgbClr val="4C4C4D"/>
                </a:solidFill>
                <a:latin typeface="Heebo" pitchFamily="34" charset="0"/>
                <a:ea typeface="Heebo" pitchFamily="34" charset="-122"/>
                <a:cs typeface="Heebo" pitchFamily="34" charset="-120"/>
              </a:rPr>
              <a:t>AQI: 101-200</a:t>
            </a:r>
            <a:endParaRPr lang="en-US" sz="1600" dirty="0"/>
          </a:p>
        </p:txBody>
      </p:sp>
      <p:sp>
        <p:nvSpPr>
          <p:cNvPr id="18" name="Text 16"/>
          <p:cNvSpPr/>
          <p:nvPr/>
        </p:nvSpPr>
        <p:spPr>
          <a:xfrm>
            <a:off x="9719310" y="3614142"/>
            <a:ext cx="3987165" cy="657225"/>
          </a:xfrm>
          <a:prstGeom prst="rect">
            <a:avLst/>
          </a:prstGeom>
          <a:noFill/>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Not great, be careful. Sensitive groups should limit outdoor exposure.</a:t>
            </a:r>
            <a:endParaRPr lang="en-US" sz="1600" dirty="0"/>
          </a:p>
        </p:txBody>
      </p:sp>
      <p:sp>
        <p:nvSpPr>
          <p:cNvPr id="19" name="Shape 17"/>
          <p:cNvSpPr/>
          <p:nvPr/>
        </p:nvSpPr>
        <p:spPr>
          <a:xfrm>
            <a:off x="718661" y="4805243"/>
            <a:ext cx="6596539" cy="1963460"/>
          </a:xfrm>
          <a:prstGeom prst="rect">
            <a:avLst/>
          </a:prstGeom>
          <a:solidFill>
            <a:srgbClr val="F2EEEE"/>
          </a:solidFill>
        </p:spPr>
      </p:sp>
      <p:sp>
        <p:nvSpPr>
          <p:cNvPr id="20" name="Shape 18"/>
          <p:cNvSpPr/>
          <p:nvPr/>
        </p:nvSpPr>
        <p:spPr>
          <a:xfrm>
            <a:off x="718661" y="4805243"/>
            <a:ext cx="6596539" cy="22860"/>
          </a:xfrm>
          <a:prstGeom prst="roundRect">
            <a:avLst>
              <a:gd name="adj" fmla="val 134740"/>
            </a:avLst>
          </a:prstGeom>
          <a:solidFill>
            <a:srgbClr val="D8D4D4"/>
          </a:solidFill>
        </p:spPr>
      </p:sp>
      <p:sp>
        <p:nvSpPr>
          <p:cNvPr id="21" name="Text 19"/>
          <p:cNvSpPr/>
          <p:nvPr/>
        </p:nvSpPr>
        <p:spPr>
          <a:xfrm>
            <a:off x="923925" y="5010507"/>
            <a:ext cx="2566749" cy="320873"/>
          </a:xfrm>
          <a:prstGeom prst="rect">
            <a:avLst/>
          </a:prstGeom>
          <a:noFill/>
        </p:spPr>
        <p:txBody>
          <a:bodyPr wrap="none" lIns="0" tIns="0" rIns="0" bIns="0" rtlCol="0" anchor="t"/>
          <a:lstStyle/>
          <a:p>
            <a:pPr marL="0" indent="0" algn="l">
              <a:lnSpc>
                <a:spcPts val="2500"/>
              </a:lnSpc>
              <a:buNone/>
            </a:pPr>
            <a:r>
              <a:rPr lang="en-US" sz="2000" dirty="0">
                <a:solidFill>
                  <a:srgbClr val="000000"/>
                </a:solidFill>
                <a:latin typeface="Crimson Pro Semi Bold" pitchFamily="34" charset="0"/>
                <a:ea typeface="Crimson Pro Semi Bold" pitchFamily="34" charset="-122"/>
                <a:cs typeface="Crimson Pro Semi Bold" pitchFamily="34" charset="-120"/>
              </a:rPr>
              <a:t>🔴</a:t>
            </a:r>
            <a:r>
              <a:rPr lang="en-US" sz="2000" dirty="0">
                <a:solidFill>
                  <a:srgbClr val="4C4C4D"/>
                </a:solidFill>
                <a:latin typeface="Crimson Pro Semi Bold" pitchFamily="34" charset="0"/>
                <a:ea typeface="Crimson Pro Semi Bold" pitchFamily="34" charset="-122"/>
                <a:cs typeface="Crimson Pro Semi Bold" pitchFamily="34" charset="-120"/>
              </a:rPr>
              <a:t> Unhealthy</a:t>
            </a:r>
            <a:endParaRPr lang="en-US" sz="2000" dirty="0"/>
          </a:p>
        </p:txBody>
      </p:sp>
      <p:sp>
        <p:nvSpPr>
          <p:cNvPr id="22" name="Text 20"/>
          <p:cNvSpPr/>
          <p:nvPr/>
        </p:nvSpPr>
        <p:spPr>
          <a:xfrm>
            <a:off x="923925" y="5454491"/>
            <a:ext cx="6186011" cy="328613"/>
          </a:xfrm>
          <a:prstGeom prst="rect">
            <a:avLst/>
          </a:prstGeom>
          <a:noFill/>
        </p:spPr>
        <p:txBody>
          <a:bodyPr wrap="none" lIns="0" tIns="0" rIns="0" bIns="0" rtlCol="0" anchor="t"/>
          <a:lstStyle/>
          <a:p>
            <a:pPr marL="0" indent="0" algn="l">
              <a:lnSpc>
                <a:spcPts val="2550"/>
              </a:lnSpc>
              <a:buNone/>
            </a:pPr>
            <a:r>
              <a:rPr lang="en-US" sz="1600" b="1" dirty="0">
                <a:solidFill>
                  <a:srgbClr val="4C4C4D"/>
                </a:solidFill>
                <a:latin typeface="Heebo" pitchFamily="34" charset="0"/>
                <a:ea typeface="Heebo" pitchFamily="34" charset="-122"/>
                <a:cs typeface="Heebo" pitchFamily="34" charset="-120"/>
              </a:rPr>
              <a:t>AQI: 201-300</a:t>
            </a:r>
            <a:endParaRPr lang="en-US" sz="1600" dirty="0"/>
          </a:p>
        </p:txBody>
      </p:sp>
      <p:sp>
        <p:nvSpPr>
          <p:cNvPr id="23" name="Text 21"/>
          <p:cNvSpPr/>
          <p:nvPr/>
        </p:nvSpPr>
        <p:spPr>
          <a:xfrm>
            <a:off x="923925" y="5906214"/>
            <a:ext cx="6186011" cy="657225"/>
          </a:xfrm>
          <a:prstGeom prst="rect">
            <a:avLst/>
          </a:prstGeom>
          <a:noFill/>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Harmful, especially for sensitive people. Everyone should reduce outdoor activities.</a:t>
            </a:r>
            <a:endParaRPr lang="en-US" sz="1600" dirty="0"/>
          </a:p>
        </p:txBody>
      </p:sp>
      <p:sp>
        <p:nvSpPr>
          <p:cNvPr id="24" name="Shape 22"/>
          <p:cNvSpPr/>
          <p:nvPr/>
        </p:nvSpPr>
        <p:spPr>
          <a:xfrm>
            <a:off x="7315200" y="4805243"/>
            <a:ext cx="6596539" cy="1963460"/>
          </a:xfrm>
          <a:prstGeom prst="rect">
            <a:avLst/>
          </a:prstGeom>
          <a:solidFill>
            <a:srgbClr val="F2EEEE"/>
          </a:solidFill>
        </p:spPr>
      </p:sp>
      <p:sp>
        <p:nvSpPr>
          <p:cNvPr id="25" name="Shape 23"/>
          <p:cNvSpPr/>
          <p:nvPr/>
        </p:nvSpPr>
        <p:spPr>
          <a:xfrm>
            <a:off x="7315200" y="4805243"/>
            <a:ext cx="22860" cy="1963460"/>
          </a:xfrm>
          <a:prstGeom prst="roundRect">
            <a:avLst>
              <a:gd name="adj" fmla="val 134740"/>
            </a:avLst>
          </a:prstGeom>
          <a:solidFill>
            <a:srgbClr val="D8D4D4"/>
          </a:solidFill>
        </p:spPr>
      </p:sp>
      <p:sp>
        <p:nvSpPr>
          <p:cNvPr id="26" name="Shape 24"/>
          <p:cNvSpPr/>
          <p:nvPr/>
        </p:nvSpPr>
        <p:spPr>
          <a:xfrm>
            <a:off x="7315200" y="4805243"/>
            <a:ext cx="6596539" cy="22860"/>
          </a:xfrm>
          <a:prstGeom prst="roundRect">
            <a:avLst>
              <a:gd name="adj" fmla="val 134740"/>
            </a:avLst>
          </a:prstGeom>
          <a:solidFill>
            <a:srgbClr val="D8D4D4"/>
          </a:solidFill>
        </p:spPr>
      </p:sp>
      <p:sp>
        <p:nvSpPr>
          <p:cNvPr id="27" name="Text 25"/>
          <p:cNvSpPr/>
          <p:nvPr/>
        </p:nvSpPr>
        <p:spPr>
          <a:xfrm>
            <a:off x="7520464" y="5010507"/>
            <a:ext cx="2566749" cy="320873"/>
          </a:xfrm>
          <a:prstGeom prst="rect">
            <a:avLst/>
          </a:prstGeom>
          <a:noFill/>
        </p:spPr>
        <p:txBody>
          <a:bodyPr wrap="none" lIns="0" tIns="0" rIns="0" bIns="0" rtlCol="0" anchor="t"/>
          <a:lstStyle/>
          <a:p>
            <a:pPr marL="0" indent="0" algn="l">
              <a:lnSpc>
                <a:spcPts val="2500"/>
              </a:lnSpc>
              <a:buNone/>
            </a:pPr>
            <a:r>
              <a:rPr lang="en-US" sz="2000" dirty="0">
                <a:solidFill>
                  <a:srgbClr val="000000"/>
                </a:solidFill>
                <a:latin typeface="Crimson Pro Semi Bold" pitchFamily="34" charset="0"/>
                <a:ea typeface="Crimson Pro Semi Bold" pitchFamily="34" charset="-122"/>
                <a:cs typeface="Crimson Pro Semi Bold" pitchFamily="34" charset="-120"/>
              </a:rPr>
              <a:t>⚫</a:t>
            </a:r>
            <a:r>
              <a:rPr lang="en-US" sz="2000" dirty="0">
                <a:solidFill>
                  <a:srgbClr val="4C4C4D"/>
                </a:solidFill>
                <a:latin typeface="Crimson Pro Semi Bold" pitchFamily="34" charset="0"/>
                <a:ea typeface="Crimson Pro Semi Bold" pitchFamily="34" charset="-122"/>
                <a:cs typeface="Crimson Pro Semi Bold" pitchFamily="34" charset="-120"/>
              </a:rPr>
              <a:t> Hazardous</a:t>
            </a:r>
            <a:endParaRPr lang="en-US" sz="2000" dirty="0"/>
          </a:p>
        </p:txBody>
      </p:sp>
      <p:sp>
        <p:nvSpPr>
          <p:cNvPr id="28" name="Text 26"/>
          <p:cNvSpPr/>
          <p:nvPr/>
        </p:nvSpPr>
        <p:spPr>
          <a:xfrm>
            <a:off x="7520464" y="5454491"/>
            <a:ext cx="6186011" cy="328613"/>
          </a:xfrm>
          <a:prstGeom prst="rect">
            <a:avLst/>
          </a:prstGeom>
          <a:noFill/>
        </p:spPr>
        <p:txBody>
          <a:bodyPr wrap="none" lIns="0" tIns="0" rIns="0" bIns="0" rtlCol="0" anchor="t"/>
          <a:lstStyle/>
          <a:p>
            <a:pPr marL="0" indent="0" algn="l">
              <a:lnSpc>
                <a:spcPts val="2550"/>
              </a:lnSpc>
              <a:buNone/>
            </a:pPr>
            <a:r>
              <a:rPr lang="en-US" sz="1600" b="1" dirty="0">
                <a:solidFill>
                  <a:srgbClr val="4C4C4D"/>
                </a:solidFill>
                <a:latin typeface="Heebo" pitchFamily="34" charset="0"/>
                <a:ea typeface="Heebo" pitchFamily="34" charset="-122"/>
                <a:cs typeface="Heebo" pitchFamily="34" charset="-120"/>
              </a:rPr>
              <a:t>AQI: 301+</a:t>
            </a:r>
            <a:endParaRPr lang="en-US" sz="1600" dirty="0"/>
          </a:p>
        </p:txBody>
      </p:sp>
      <p:sp>
        <p:nvSpPr>
          <p:cNvPr id="29" name="Text 27"/>
          <p:cNvSpPr/>
          <p:nvPr/>
        </p:nvSpPr>
        <p:spPr>
          <a:xfrm>
            <a:off x="7520464" y="5906214"/>
            <a:ext cx="6186011" cy="328613"/>
          </a:xfrm>
          <a:prstGeom prst="rect">
            <a:avLst/>
          </a:prstGeom>
          <a:noFill/>
        </p:spPr>
        <p:txBody>
          <a:bodyPr wrap="non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Dangerous for everyone. Avoid outdoor activities completely.</a:t>
            </a:r>
            <a:endParaRPr lang="en-US" sz="1600" dirty="0"/>
          </a:p>
        </p:txBody>
      </p:sp>
      <p:sp>
        <p:nvSpPr>
          <p:cNvPr id="30" name="Text 28"/>
          <p:cNvSpPr/>
          <p:nvPr/>
        </p:nvSpPr>
        <p:spPr>
          <a:xfrm>
            <a:off x="718661" y="6999684"/>
            <a:ext cx="13193078" cy="657225"/>
          </a:xfrm>
          <a:prstGeom prst="rect">
            <a:avLst/>
          </a:prstGeom>
          <a:noFill/>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This classification system makes complex environmental data accessible to the general public, enabling informed decision-making about daily activities and health precautions.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788670" y="889873"/>
            <a:ext cx="5634157" cy="704255"/>
          </a:xfrm>
          <a:prstGeom prst="rect">
            <a:avLst/>
          </a:prstGeom>
          <a:noFill/>
        </p:spPr>
        <p:txBody>
          <a:bodyPr wrap="none" lIns="0" tIns="0" rIns="0" bIns="0" rtlCol="0" anchor="t"/>
          <a:lstStyle/>
          <a:p>
            <a:pPr marL="0" indent="0" algn="l">
              <a:lnSpc>
                <a:spcPts val="5500"/>
              </a:lnSpc>
              <a:buNone/>
            </a:pPr>
            <a:r>
              <a:rPr lang="en-US" sz="4400" dirty="0">
                <a:solidFill>
                  <a:srgbClr val="152D47"/>
                </a:solidFill>
                <a:latin typeface="Crimson Pro Semi Bold" pitchFamily="34" charset="0"/>
                <a:ea typeface="Crimson Pro Semi Bold" pitchFamily="34" charset="-122"/>
                <a:cs typeface="Crimson Pro Semi Bold" pitchFamily="34" charset="-120"/>
              </a:rPr>
              <a:t> Results &amp; Outcomes</a:t>
            </a:r>
            <a:endParaRPr lang="en-US" sz="4400" dirty="0"/>
          </a:p>
        </p:txBody>
      </p:sp>
      <p:sp>
        <p:nvSpPr>
          <p:cNvPr id="3" name="Text 1"/>
          <p:cNvSpPr/>
          <p:nvPr/>
        </p:nvSpPr>
        <p:spPr>
          <a:xfrm>
            <a:off x="788670" y="1819394"/>
            <a:ext cx="6251615" cy="360521"/>
          </a:xfrm>
          <a:prstGeom prst="rect">
            <a:avLst/>
          </a:prstGeom>
          <a:noFill/>
        </p:spPr>
        <p:txBody>
          <a:bodyPr wrap="none" lIns="0" tIns="0" rIns="0" bIns="0" rtlCol="0" anchor="t"/>
          <a:lstStyle/>
          <a:p>
            <a:pPr marL="0" indent="0" algn="l">
              <a:lnSpc>
                <a:spcPts val="2800"/>
              </a:lnSpc>
              <a:buNone/>
            </a:pPr>
            <a:endParaRPr lang="en-US" sz="1750" dirty="0"/>
          </a:p>
        </p:txBody>
      </p:sp>
      <p:sp>
        <p:nvSpPr>
          <p:cNvPr id="4" name="Text 2"/>
          <p:cNvSpPr/>
          <p:nvPr/>
        </p:nvSpPr>
        <p:spPr>
          <a:xfrm>
            <a:off x="788670" y="2382679"/>
            <a:ext cx="6251615" cy="360521"/>
          </a:xfrm>
          <a:prstGeom prst="rect">
            <a:avLst/>
          </a:prstGeom>
          <a:noFill/>
        </p:spPr>
        <p:txBody>
          <a:bodyPr wrap="none" lIns="0" tIns="0" rIns="0" bIns="0" rtlCol="0" anchor="t"/>
          <a:lstStyle/>
          <a:p>
            <a:pPr marL="0" indent="0" algn="l">
              <a:lnSpc>
                <a:spcPts val="2800"/>
              </a:lnSpc>
              <a:buNone/>
            </a:pPr>
            <a:r>
              <a:rPr lang="en-US" sz="1750" dirty="0">
                <a:solidFill>
                  <a:srgbClr val="000000"/>
                </a:solidFill>
                <a:latin typeface="Heebo" pitchFamily="34" charset="0"/>
                <a:ea typeface="Heebo" pitchFamily="34" charset="-122"/>
                <a:cs typeface="Heebo" pitchFamily="34" charset="-120"/>
              </a:rPr>
              <a:t>✅</a:t>
            </a:r>
            <a:r>
              <a:rPr lang="en-US" sz="1750" dirty="0">
                <a:solidFill>
                  <a:srgbClr val="4C4C4D"/>
                </a:solidFill>
                <a:latin typeface="Heebo" pitchFamily="34" charset="0"/>
                <a:ea typeface="Heebo" pitchFamily="34" charset="-122"/>
                <a:cs typeface="Heebo" pitchFamily="34" charset="-120"/>
              </a:rPr>
              <a:t> Automated AQI Prediction with reasonable accuracy.</a:t>
            </a:r>
            <a:endParaRPr lang="en-US" sz="1750" dirty="0"/>
          </a:p>
        </p:txBody>
      </p:sp>
      <p:sp>
        <p:nvSpPr>
          <p:cNvPr id="5" name="Text 3"/>
          <p:cNvSpPr/>
          <p:nvPr/>
        </p:nvSpPr>
        <p:spPr>
          <a:xfrm>
            <a:off x="788670" y="2945963"/>
            <a:ext cx="6251615" cy="721043"/>
          </a:xfrm>
          <a:prstGeom prst="rect">
            <a:avLst/>
          </a:prstGeom>
          <a:noFill/>
        </p:spPr>
        <p:txBody>
          <a:bodyPr wrap="square" lIns="0" tIns="0" rIns="0" bIns="0" rtlCol="0" anchor="t"/>
          <a:lstStyle/>
          <a:p>
            <a:pPr marL="0" indent="0" algn="l">
              <a:lnSpc>
                <a:spcPts val="2800"/>
              </a:lnSpc>
              <a:buNone/>
            </a:pPr>
            <a:r>
              <a:rPr lang="en-US" sz="1750" dirty="0">
                <a:solidFill>
                  <a:srgbClr val="000000"/>
                </a:solidFill>
                <a:latin typeface="Heebo" pitchFamily="34" charset="0"/>
                <a:ea typeface="Heebo" pitchFamily="34" charset="-122"/>
                <a:cs typeface="Heebo" pitchFamily="34" charset="-120"/>
              </a:rPr>
              <a:t>📊</a:t>
            </a:r>
            <a:r>
              <a:rPr lang="en-US" sz="1750" dirty="0">
                <a:solidFill>
                  <a:srgbClr val="4C4C4D"/>
                </a:solidFill>
                <a:latin typeface="Heebo" pitchFamily="34" charset="0"/>
                <a:ea typeface="Heebo" pitchFamily="34" charset="-122"/>
                <a:cs typeface="Heebo" pitchFamily="34" charset="-120"/>
              </a:rPr>
              <a:t> AQI Categories Generated: Good, Moderate, Poor, Unhealthy, Hazardous.</a:t>
            </a:r>
            <a:endParaRPr lang="en-US" sz="1750" dirty="0"/>
          </a:p>
        </p:txBody>
      </p:sp>
      <p:sp>
        <p:nvSpPr>
          <p:cNvPr id="6" name="Text 4"/>
          <p:cNvSpPr/>
          <p:nvPr/>
        </p:nvSpPr>
        <p:spPr>
          <a:xfrm>
            <a:off x="788670" y="3869769"/>
            <a:ext cx="6251615" cy="721043"/>
          </a:xfrm>
          <a:prstGeom prst="rect">
            <a:avLst/>
          </a:prstGeom>
          <a:noFill/>
        </p:spPr>
        <p:txBody>
          <a:bodyPr wrap="square" lIns="0" tIns="0" rIns="0" bIns="0" rtlCol="0" anchor="t"/>
          <a:lstStyle/>
          <a:p>
            <a:pPr marL="0" indent="0" algn="l">
              <a:lnSpc>
                <a:spcPts val="2800"/>
              </a:lnSpc>
              <a:buNone/>
            </a:pPr>
            <a:r>
              <a:rPr lang="en-US" sz="1750" dirty="0">
                <a:solidFill>
                  <a:srgbClr val="000000"/>
                </a:solidFill>
                <a:latin typeface="Heebo" pitchFamily="34" charset="0"/>
                <a:ea typeface="Heebo" pitchFamily="34" charset="-122"/>
                <a:cs typeface="Heebo" pitchFamily="34" charset="-120"/>
              </a:rPr>
              <a:t>🏥</a:t>
            </a:r>
            <a:r>
              <a:rPr lang="en-US" sz="1750" dirty="0">
                <a:solidFill>
                  <a:srgbClr val="4C4C4D"/>
                </a:solidFill>
                <a:latin typeface="Heebo" pitchFamily="34" charset="0"/>
                <a:ea typeface="Heebo" pitchFamily="34" charset="-122"/>
                <a:cs typeface="Heebo" pitchFamily="34" charset="-120"/>
              </a:rPr>
              <a:t> Preventive Healthcare Support: Early warnings to reduce respiratory illness risks.</a:t>
            </a:r>
            <a:endParaRPr lang="en-US" sz="1750" dirty="0"/>
          </a:p>
        </p:txBody>
      </p:sp>
      <p:sp>
        <p:nvSpPr>
          <p:cNvPr id="7" name="Text 5"/>
          <p:cNvSpPr/>
          <p:nvPr/>
        </p:nvSpPr>
        <p:spPr>
          <a:xfrm>
            <a:off x="788670" y="4793575"/>
            <a:ext cx="6251615" cy="721043"/>
          </a:xfrm>
          <a:prstGeom prst="rect">
            <a:avLst/>
          </a:prstGeom>
          <a:noFill/>
        </p:spPr>
        <p:txBody>
          <a:bodyPr wrap="square" lIns="0" tIns="0" rIns="0" bIns="0" rtlCol="0" anchor="t"/>
          <a:lstStyle/>
          <a:p>
            <a:pPr marL="0" indent="0" algn="l">
              <a:lnSpc>
                <a:spcPts val="2800"/>
              </a:lnSpc>
              <a:buNone/>
            </a:pPr>
            <a:r>
              <a:rPr lang="en-US" sz="1750" dirty="0">
                <a:solidFill>
                  <a:srgbClr val="000000"/>
                </a:solidFill>
                <a:latin typeface="Heebo" pitchFamily="34" charset="0"/>
                <a:ea typeface="Heebo" pitchFamily="34" charset="-122"/>
                <a:cs typeface="Heebo" pitchFamily="34" charset="-120"/>
              </a:rPr>
              <a:t>🧾</a:t>
            </a:r>
            <a:r>
              <a:rPr lang="en-US" sz="1750" dirty="0">
                <a:solidFill>
                  <a:srgbClr val="4C4C4D"/>
                </a:solidFill>
                <a:latin typeface="Heebo" pitchFamily="34" charset="0"/>
                <a:ea typeface="Heebo" pitchFamily="34" charset="-122"/>
                <a:cs typeface="Heebo" pitchFamily="34" charset="-120"/>
              </a:rPr>
              <a:t> Simplified Data Interpretation: Converts complex pollutant data into easy-to-understand AQI levels.</a:t>
            </a:r>
            <a:endParaRPr lang="en-US" sz="1750" dirty="0"/>
          </a:p>
        </p:txBody>
      </p:sp>
      <p:sp>
        <p:nvSpPr>
          <p:cNvPr id="8" name="Text 6"/>
          <p:cNvSpPr/>
          <p:nvPr/>
        </p:nvSpPr>
        <p:spPr>
          <a:xfrm>
            <a:off x="788670" y="5717381"/>
            <a:ext cx="6251615" cy="721043"/>
          </a:xfrm>
          <a:prstGeom prst="rect">
            <a:avLst/>
          </a:prstGeom>
          <a:noFill/>
        </p:spPr>
        <p:txBody>
          <a:bodyPr wrap="square" lIns="0" tIns="0" rIns="0" bIns="0" rtlCol="0" anchor="t"/>
          <a:lstStyle/>
          <a:p>
            <a:pPr marL="0" indent="0" algn="l">
              <a:lnSpc>
                <a:spcPts val="2800"/>
              </a:lnSpc>
              <a:buNone/>
            </a:pPr>
            <a:r>
              <a:rPr lang="en-US" sz="1750" dirty="0">
                <a:solidFill>
                  <a:srgbClr val="000000"/>
                </a:solidFill>
                <a:latin typeface="Heebo" pitchFamily="34" charset="0"/>
                <a:ea typeface="Heebo" pitchFamily="34" charset="-122"/>
                <a:cs typeface="Heebo" pitchFamily="34" charset="-120"/>
              </a:rPr>
              <a:t>🌍</a:t>
            </a:r>
            <a:r>
              <a:rPr lang="en-US" sz="1750" dirty="0">
                <a:solidFill>
                  <a:srgbClr val="4C4C4D"/>
                </a:solidFill>
                <a:latin typeface="Heebo" pitchFamily="34" charset="0"/>
                <a:ea typeface="Heebo" pitchFamily="34" charset="-122"/>
                <a:cs typeface="Heebo" pitchFamily="34" charset="-120"/>
              </a:rPr>
              <a:t> Policy &amp; Awareness Support: Provides insights for policymakers and public health planning.</a:t>
            </a:r>
            <a:endParaRPr lang="en-US" sz="1750" dirty="0"/>
          </a:p>
        </p:txBody>
      </p:sp>
      <p:sp>
        <p:nvSpPr>
          <p:cNvPr id="9" name="Text 7"/>
          <p:cNvSpPr/>
          <p:nvPr/>
        </p:nvSpPr>
        <p:spPr>
          <a:xfrm>
            <a:off x="788670" y="6641187"/>
            <a:ext cx="6251615" cy="721043"/>
          </a:xfrm>
          <a:prstGeom prst="rect">
            <a:avLst/>
          </a:prstGeom>
          <a:noFill/>
        </p:spPr>
        <p:txBody>
          <a:bodyPr wrap="square" lIns="0" tIns="0" rIns="0" bIns="0" rtlCol="0" anchor="t"/>
          <a:lstStyle/>
          <a:p>
            <a:pPr marL="0" indent="0" algn="l">
              <a:lnSpc>
                <a:spcPts val="2800"/>
              </a:lnSpc>
              <a:buNone/>
            </a:pPr>
            <a:r>
              <a:rPr lang="en-US" sz="1750" dirty="0">
                <a:solidFill>
                  <a:srgbClr val="000000"/>
                </a:solidFill>
                <a:latin typeface="Heebo" pitchFamily="34" charset="0"/>
                <a:ea typeface="Heebo" pitchFamily="34" charset="-122"/>
                <a:cs typeface="Heebo" pitchFamily="34" charset="-120"/>
              </a:rPr>
              <a:t>📈</a:t>
            </a:r>
            <a:r>
              <a:rPr lang="en-US" sz="1750" dirty="0">
                <a:solidFill>
                  <a:srgbClr val="4C4C4D"/>
                </a:solidFill>
                <a:latin typeface="Heebo" pitchFamily="34" charset="0"/>
                <a:ea typeface="Heebo" pitchFamily="34" charset="-122"/>
                <a:cs typeface="Heebo" pitchFamily="34" charset="-120"/>
              </a:rPr>
              <a:t> Impact: Improved decision-making for outdoor activities, public advisories, and environmental sustainability.</a:t>
            </a:r>
            <a:endParaRPr lang="en-US" sz="1750" dirty="0"/>
          </a:p>
        </p:txBody>
      </p:sp>
      <p:pic>
        <p:nvPicPr>
          <p:cNvPr id="10" name="Image 0" descr="preencoded.png"/>
          <p:cNvPicPr>
            <a:picLocks noChangeAspect="1"/>
          </p:cNvPicPr>
          <p:nvPr/>
        </p:nvPicPr>
        <p:blipFill>
          <a:blip r:embed="rId3"/>
          <a:stretch>
            <a:fillRect/>
          </a:stretch>
        </p:blipFill>
        <p:spPr>
          <a:xfrm>
            <a:off x="7597735" y="918091"/>
            <a:ext cx="6251615" cy="62516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04" y="3495618"/>
            <a:ext cx="6453883" cy="4728936"/>
          </a:xfrm>
          <a:custGeom>
            <a:avLst/>
            <a:gdLst/>
            <a:ahLst/>
            <a:cxnLst/>
            <a:rect l="l" t="t" r="r" b="b"/>
            <a:pathLst>
              <a:path w="8067354" h="5911170">
                <a:moveTo>
                  <a:pt x="0" y="0"/>
                </a:moveTo>
                <a:lnTo>
                  <a:pt x="8067354" y="0"/>
                </a:lnTo>
                <a:lnTo>
                  <a:pt x="8067354" y="5911170"/>
                </a:lnTo>
                <a:lnTo>
                  <a:pt x="0" y="59111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9094192" y="4192311"/>
            <a:ext cx="5533104" cy="4010388"/>
          </a:xfrm>
          <a:custGeom>
            <a:avLst/>
            <a:gdLst/>
            <a:ahLst/>
            <a:cxnLst/>
            <a:rect l="l" t="t" r="r" b="b"/>
            <a:pathLst>
              <a:path w="6916380" h="5012985">
                <a:moveTo>
                  <a:pt x="6916379" y="0"/>
                </a:moveTo>
                <a:lnTo>
                  <a:pt x="0" y="0"/>
                </a:lnTo>
                <a:lnTo>
                  <a:pt x="0" y="5012985"/>
                </a:lnTo>
                <a:lnTo>
                  <a:pt x="6916379" y="5012985"/>
                </a:lnTo>
                <a:lnTo>
                  <a:pt x="6916379"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4" name="Freeform 4"/>
          <p:cNvSpPr/>
          <p:nvPr/>
        </p:nvSpPr>
        <p:spPr>
          <a:xfrm>
            <a:off x="0" y="-26789"/>
            <a:ext cx="5852160" cy="3106965"/>
          </a:xfrm>
          <a:custGeom>
            <a:avLst/>
            <a:gdLst/>
            <a:ahLst/>
            <a:cxnLst/>
            <a:rect l="l" t="t" r="r" b="b"/>
            <a:pathLst>
              <a:path w="7315200" h="3883706">
                <a:moveTo>
                  <a:pt x="0" y="0"/>
                </a:moveTo>
                <a:lnTo>
                  <a:pt x="7315200" y="0"/>
                </a:lnTo>
                <a:lnTo>
                  <a:pt x="7315200" y="3883707"/>
                </a:lnTo>
                <a:lnTo>
                  <a:pt x="0" y="38837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696818" y="5767951"/>
            <a:ext cx="2019470" cy="2451894"/>
          </a:xfrm>
          <a:custGeom>
            <a:avLst/>
            <a:gdLst/>
            <a:ahLst/>
            <a:cxnLst/>
            <a:rect l="l" t="t" r="r" b="b"/>
            <a:pathLst>
              <a:path w="2524337" h="3064868">
                <a:moveTo>
                  <a:pt x="0" y="0"/>
                </a:moveTo>
                <a:lnTo>
                  <a:pt x="2524337" y="0"/>
                </a:lnTo>
                <a:lnTo>
                  <a:pt x="2524337" y="3064868"/>
                </a:lnTo>
                <a:lnTo>
                  <a:pt x="0" y="306486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4072795">
            <a:off x="10963280" y="5226645"/>
            <a:ext cx="3422522" cy="2479526"/>
          </a:xfrm>
          <a:custGeom>
            <a:avLst/>
            <a:gdLst/>
            <a:ahLst/>
            <a:cxnLst/>
            <a:rect l="l" t="t" r="r" b="b"/>
            <a:pathLst>
              <a:path w="4278153" h="3099408">
                <a:moveTo>
                  <a:pt x="0" y="0"/>
                </a:moveTo>
                <a:lnTo>
                  <a:pt x="4278153" y="0"/>
                </a:lnTo>
                <a:lnTo>
                  <a:pt x="4278153" y="3099408"/>
                </a:lnTo>
                <a:lnTo>
                  <a:pt x="0" y="309940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2576601">
            <a:off x="407720" y="28545"/>
            <a:ext cx="3127018" cy="2417797"/>
          </a:xfrm>
          <a:custGeom>
            <a:avLst/>
            <a:gdLst/>
            <a:ahLst/>
            <a:cxnLst/>
            <a:rect l="l" t="t" r="r" b="b"/>
            <a:pathLst>
              <a:path w="3908772" h="3022246">
                <a:moveTo>
                  <a:pt x="0" y="0"/>
                </a:moveTo>
                <a:lnTo>
                  <a:pt x="3908772" y="0"/>
                </a:lnTo>
                <a:lnTo>
                  <a:pt x="3908772" y="3022247"/>
                </a:lnTo>
                <a:lnTo>
                  <a:pt x="0" y="30222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flipH="1" flipV="1">
            <a:off x="8141792" y="-27445"/>
            <a:ext cx="6453883" cy="4728936"/>
          </a:xfrm>
          <a:custGeom>
            <a:avLst/>
            <a:gdLst/>
            <a:ahLst/>
            <a:cxnLst/>
            <a:rect l="l" t="t" r="r" b="b"/>
            <a:pathLst>
              <a:path w="8067354" h="5911170">
                <a:moveTo>
                  <a:pt x="8067354" y="5911170"/>
                </a:moveTo>
                <a:lnTo>
                  <a:pt x="0" y="5911170"/>
                </a:lnTo>
                <a:lnTo>
                  <a:pt x="0" y="0"/>
                </a:lnTo>
                <a:lnTo>
                  <a:pt x="8067354" y="0"/>
                </a:lnTo>
                <a:lnTo>
                  <a:pt x="8067354" y="591117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6567540">
            <a:off x="12364427" y="258703"/>
            <a:ext cx="1856457" cy="2205294"/>
          </a:xfrm>
          <a:custGeom>
            <a:avLst/>
            <a:gdLst/>
            <a:ahLst/>
            <a:cxnLst/>
            <a:rect l="l" t="t" r="r" b="b"/>
            <a:pathLst>
              <a:path w="2320571" h="2756618">
                <a:moveTo>
                  <a:pt x="0" y="0"/>
                </a:moveTo>
                <a:lnTo>
                  <a:pt x="2320571" y="0"/>
                </a:lnTo>
                <a:lnTo>
                  <a:pt x="2320571" y="2756618"/>
                </a:lnTo>
                <a:lnTo>
                  <a:pt x="0" y="275661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rot="-1235539" flipH="1">
            <a:off x="11845138" y="2336644"/>
            <a:ext cx="1587299" cy="2976804"/>
          </a:xfrm>
          <a:custGeom>
            <a:avLst/>
            <a:gdLst/>
            <a:ahLst/>
            <a:cxnLst/>
            <a:rect l="l" t="t" r="r" b="b"/>
            <a:pathLst>
              <a:path w="1984124" h="3721005">
                <a:moveTo>
                  <a:pt x="1984124" y="0"/>
                </a:moveTo>
                <a:lnTo>
                  <a:pt x="0" y="0"/>
                </a:lnTo>
                <a:lnTo>
                  <a:pt x="0" y="3721005"/>
                </a:lnTo>
                <a:lnTo>
                  <a:pt x="1984124" y="3721005"/>
                </a:lnTo>
                <a:lnTo>
                  <a:pt x="1984124"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2240198">
            <a:off x="6595929" y="5375309"/>
            <a:ext cx="2309475" cy="2520261"/>
          </a:xfrm>
          <a:custGeom>
            <a:avLst/>
            <a:gdLst/>
            <a:ahLst/>
            <a:cxnLst/>
            <a:rect l="l" t="t" r="r" b="b"/>
            <a:pathLst>
              <a:path w="2886844" h="3150326">
                <a:moveTo>
                  <a:pt x="0" y="0"/>
                </a:moveTo>
                <a:lnTo>
                  <a:pt x="2886844" y="0"/>
                </a:lnTo>
                <a:lnTo>
                  <a:pt x="2886844" y="3150326"/>
                </a:lnTo>
                <a:lnTo>
                  <a:pt x="0" y="315032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IN" dirty="0"/>
          </a:p>
        </p:txBody>
      </p:sp>
      <p:sp>
        <p:nvSpPr>
          <p:cNvPr id="12" name="Freeform 12"/>
          <p:cNvSpPr/>
          <p:nvPr/>
        </p:nvSpPr>
        <p:spPr>
          <a:xfrm rot="2798844">
            <a:off x="745130" y="3196715"/>
            <a:ext cx="1348750" cy="1836170"/>
          </a:xfrm>
          <a:custGeom>
            <a:avLst/>
            <a:gdLst/>
            <a:ahLst/>
            <a:cxnLst/>
            <a:rect l="l" t="t" r="r" b="b"/>
            <a:pathLst>
              <a:path w="1685938" h="2295212">
                <a:moveTo>
                  <a:pt x="0" y="0"/>
                </a:moveTo>
                <a:lnTo>
                  <a:pt x="1685938" y="0"/>
                </a:lnTo>
                <a:lnTo>
                  <a:pt x="1685938" y="2295212"/>
                </a:lnTo>
                <a:lnTo>
                  <a:pt x="0" y="229521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6925661">
            <a:off x="6445868" y="-759483"/>
            <a:ext cx="1238929" cy="3291840"/>
          </a:xfrm>
          <a:custGeom>
            <a:avLst/>
            <a:gdLst/>
            <a:ahLst/>
            <a:cxnLst/>
            <a:rect l="l" t="t" r="r" b="b"/>
            <a:pathLst>
              <a:path w="1548661" h="4114800">
                <a:moveTo>
                  <a:pt x="0" y="0"/>
                </a:moveTo>
                <a:lnTo>
                  <a:pt x="1548661" y="0"/>
                </a:lnTo>
                <a:lnTo>
                  <a:pt x="1548661" y="4114800"/>
                </a:lnTo>
                <a:lnTo>
                  <a:pt x="0" y="411480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TextBox 14"/>
          <p:cNvSpPr txBox="1"/>
          <p:nvPr/>
        </p:nvSpPr>
        <p:spPr>
          <a:xfrm>
            <a:off x="2399285" y="2777236"/>
            <a:ext cx="9831831" cy="2795637"/>
          </a:xfrm>
          <a:prstGeom prst="rect">
            <a:avLst/>
          </a:prstGeom>
        </p:spPr>
        <p:txBody>
          <a:bodyPr lIns="0" tIns="0" rIns="0" bIns="0" rtlCol="0" anchor="t">
            <a:spAutoFit/>
          </a:bodyPr>
          <a:lstStyle/>
          <a:p>
            <a:pPr algn="ctr">
              <a:lnSpc>
                <a:spcPts val="10903"/>
              </a:lnSpc>
            </a:pPr>
            <a:r>
              <a:rPr lang="en-US" sz="11599" b="1">
                <a:solidFill>
                  <a:srgbClr val="915A3B"/>
                </a:solidFill>
                <a:latin typeface="Lovelace Text Bold"/>
                <a:ea typeface="Lovelace Text Bold"/>
                <a:cs typeface="Lovelace Text Bold"/>
                <a:sym typeface="Lovelace Text Bold"/>
              </a:rPr>
              <a:t>THANK</a:t>
            </a:r>
          </a:p>
          <a:p>
            <a:pPr algn="ctr">
              <a:lnSpc>
                <a:spcPts val="10903"/>
              </a:lnSpc>
            </a:pPr>
            <a:r>
              <a:rPr lang="en-US" sz="11599" b="1">
                <a:solidFill>
                  <a:srgbClr val="915A3B"/>
                </a:solidFill>
                <a:latin typeface="Lovelace Text Bold"/>
                <a:ea typeface="Lovelace Text Bold"/>
                <a:cs typeface="Lovelace Text Bold"/>
                <a:sym typeface="Lovelace Text Bold"/>
              </a:rPr>
              <a:t>YOU</a:t>
            </a:r>
          </a:p>
        </p:txBody>
      </p:sp>
    </p:spTree>
    <p:extLst>
      <p:ext uri="{BB962C8B-B14F-4D97-AF65-F5344CB8AC3E}">
        <p14:creationId xmlns:p14="http://schemas.microsoft.com/office/powerpoint/2010/main" val="3939313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647</Words>
  <Application>Microsoft Office PowerPoint</Application>
  <PresentationFormat>Custom</PresentationFormat>
  <Paragraphs>91</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Poppins</vt:lpstr>
      <vt:lpstr>Lovelace Text Bold</vt:lpstr>
      <vt:lpstr>Crimson Pro Semi Bold</vt:lpstr>
      <vt:lpstr>League Spartan</vt:lpstr>
      <vt:lpstr>Roboto Bold</vt:lpstr>
      <vt:lpstr>Heebo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PAVAN DEGALA</dc:creator>
  <cp:lastModifiedBy>PAVAN DEGALA</cp:lastModifiedBy>
  <cp:revision>6</cp:revision>
  <dcterms:created xsi:type="dcterms:W3CDTF">2025-09-14T03:12:00Z</dcterms:created>
  <dcterms:modified xsi:type="dcterms:W3CDTF">2026-03-26T16:46:05Z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EF234909B3FB46469EB31E262876B4CE_13</vt:lpwstr>
  </property>
  <property fmtid="{D5CDD505-2E9C-101B-9397-08002B2CF9AE}" pid="3" name="KSOProductBuildVer">
    <vt:lpwstr>1033-12.2.0.22549</vt:lpwstr>
  </property>
</Properties>
</file>